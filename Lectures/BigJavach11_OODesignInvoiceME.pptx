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760" r:id="rId2"/>
    <p:sldMasterId id="2147483748" r:id="rId3"/>
  </p:sldMasterIdLst>
  <p:sldIdLst>
    <p:sldId id="365" r:id="rId4"/>
    <p:sldId id="256" r:id="rId5"/>
    <p:sldId id="274" r:id="rId6"/>
    <p:sldId id="275" r:id="rId7"/>
    <p:sldId id="276" r:id="rId8"/>
    <p:sldId id="277" r:id="rId9"/>
    <p:sldId id="278" r:id="rId10"/>
    <p:sldId id="279" r:id="rId11"/>
    <p:sldId id="401" r:id="rId12"/>
    <p:sldId id="283" r:id="rId13"/>
    <p:sldId id="284" r:id="rId14"/>
    <p:sldId id="285" r:id="rId15"/>
    <p:sldId id="286" r:id="rId16"/>
    <p:sldId id="287" r:id="rId17"/>
    <p:sldId id="288" r:id="rId18"/>
    <p:sldId id="292" r:id="rId19"/>
    <p:sldId id="293" r:id="rId20"/>
    <p:sldId id="295" r:id="rId21"/>
    <p:sldId id="296" r:id="rId22"/>
    <p:sldId id="297" r:id="rId23"/>
    <p:sldId id="298" r:id="rId24"/>
    <p:sldId id="299" r:id="rId25"/>
    <p:sldId id="300" r:id="rId26"/>
    <p:sldId id="301" r:id="rId27"/>
    <p:sldId id="302" r:id="rId28"/>
    <p:sldId id="303" r:id="rId29"/>
    <p:sldId id="304" r:id="rId30"/>
    <p:sldId id="305" r:id="rId31"/>
    <p:sldId id="306" r:id="rId32"/>
    <p:sldId id="402" r:id="rId33"/>
    <p:sldId id="307" r:id="rId34"/>
    <p:sldId id="403" r:id="rId35"/>
    <p:sldId id="308" r:id="rId36"/>
    <p:sldId id="404" r:id="rId37"/>
    <p:sldId id="309" r:id="rId38"/>
    <p:sldId id="310" r:id="rId39"/>
    <p:sldId id="311" r:id="rId40"/>
    <p:sldId id="312" r:id="rId41"/>
    <p:sldId id="313" r:id="rId42"/>
    <p:sldId id="314" r:id="rId43"/>
    <p:sldId id="315" r:id="rId44"/>
    <p:sldId id="316" r:id="rId45"/>
    <p:sldId id="368" r:id="rId46"/>
    <p:sldId id="411" r:id="rId47"/>
    <p:sldId id="369" r:id="rId48"/>
    <p:sldId id="317" r:id="rId49"/>
    <p:sldId id="370" r:id="rId50"/>
    <p:sldId id="318" r:id="rId51"/>
    <p:sldId id="372" r:id="rId52"/>
    <p:sldId id="319" r:id="rId53"/>
    <p:sldId id="374" r:id="rId54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-107" charset="-128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-107" charset="-128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-107" charset="-128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-107" charset="-128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-107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-107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-107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-107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-107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7C1"/>
    <a:srgbClr val="6E7069"/>
    <a:srgbClr val="0033CC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120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presProps" Target="pres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tableStyles" Target="tableStyles.xml"/><Relationship Id="rId5" Type="http://schemas.openxmlformats.org/officeDocument/2006/relationships/slide" Target="slides/slide2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viewProps" Target="view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theme" Target="theme/theme1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i="0"/>
            </a:lvl1pPr>
          </a:lstStyle>
          <a:p>
            <a:pPr>
              <a:defRPr/>
            </a:pPr>
            <a:r>
              <a:rPr lang="en-US"/>
              <a:t>Big Java by Cay Horstmann</a:t>
            </a:r>
          </a:p>
          <a:p>
            <a:pPr>
              <a:defRPr/>
            </a:pPr>
            <a:r>
              <a:rPr lang="en-US"/>
              <a:t>Copyright © 2009 by John Wiley &amp; Sons. 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576260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i="0"/>
            </a:lvl1pPr>
          </a:lstStyle>
          <a:p>
            <a:pPr>
              <a:defRPr/>
            </a:pPr>
            <a:r>
              <a:rPr lang="en-US"/>
              <a:t>Big Java by Cay Horstmann</a:t>
            </a:r>
          </a:p>
          <a:p>
            <a:pPr>
              <a:defRPr/>
            </a:pPr>
            <a:r>
              <a:rPr lang="en-US"/>
              <a:t>Copyright © 2009 by John Wiley &amp; Sons. 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978267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i="0"/>
            </a:lvl1pPr>
          </a:lstStyle>
          <a:p>
            <a:pPr>
              <a:defRPr/>
            </a:pPr>
            <a:r>
              <a:rPr lang="en-US"/>
              <a:t>Big Java by Cay Horstmann</a:t>
            </a:r>
          </a:p>
          <a:p>
            <a:pPr>
              <a:defRPr/>
            </a:pPr>
            <a:r>
              <a:rPr lang="en-US"/>
              <a:t>Copyright © 2009 by John Wiley &amp; Sons. 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141067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i="0"/>
            </a:lvl1pPr>
          </a:lstStyle>
          <a:p>
            <a:pPr>
              <a:defRPr/>
            </a:pPr>
            <a:r>
              <a:rPr lang="en-US"/>
              <a:t>Big Java by Cay Horstmann</a:t>
            </a:r>
          </a:p>
          <a:p>
            <a:pPr>
              <a:defRPr/>
            </a:pPr>
            <a:r>
              <a:rPr lang="en-US"/>
              <a:t>Copyright © 2009 by John Wiley &amp; Sons. 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766118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i="0"/>
            </a:lvl1pPr>
          </a:lstStyle>
          <a:p>
            <a:pPr>
              <a:defRPr/>
            </a:pPr>
            <a:r>
              <a:rPr lang="en-US"/>
              <a:t>Big Java by Cay Horstmann</a:t>
            </a:r>
          </a:p>
          <a:p>
            <a:pPr>
              <a:defRPr/>
            </a:pPr>
            <a:r>
              <a:rPr lang="en-US"/>
              <a:t>Copyright © 2009 by John Wiley &amp; Sons. 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11130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i="0"/>
            </a:lvl1pPr>
          </a:lstStyle>
          <a:p>
            <a:pPr>
              <a:defRPr/>
            </a:pPr>
            <a:r>
              <a:rPr lang="en-US"/>
              <a:t>Big Java by Cay Horstmann</a:t>
            </a:r>
          </a:p>
          <a:p>
            <a:pPr>
              <a:defRPr/>
            </a:pPr>
            <a:r>
              <a:rPr lang="en-US"/>
              <a:t>Copyright © 2009 by John Wiley &amp; Sons. 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627687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i="0"/>
            </a:lvl1pPr>
          </a:lstStyle>
          <a:p>
            <a:pPr>
              <a:defRPr/>
            </a:pPr>
            <a:r>
              <a:rPr lang="en-US"/>
              <a:t>Big Java by Cay Horstmann</a:t>
            </a:r>
          </a:p>
          <a:p>
            <a:pPr>
              <a:defRPr/>
            </a:pPr>
            <a:r>
              <a:rPr lang="en-US"/>
              <a:t>Copyright © 2009 by John Wiley &amp; Sons. 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610363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i="0"/>
            </a:lvl1pPr>
          </a:lstStyle>
          <a:p>
            <a:pPr>
              <a:defRPr/>
            </a:pPr>
            <a:r>
              <a:rPr lang="en-US"/>
              <a:t>Big Java by Cay Horstmann</a:t>
            </a:r>
          </a:p>
          <a:p>
            <a:pPr>
              <a:defRPr/>
            </a:pPr>
            <a:r>
              <a:rPr lang="en-US"/>
              <a:t>Copyright © 2009 by John Wiley &amp; Sons. 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477253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i="0"/>
            </a:lvl1pPr>
          </a:lstStyle>
          <a:p>
            <a:pPr>
              <a:defRPr/>
            </a:pPr>
            <a:r>
              <a:rPr lang="en-US"/>
              <a:t>Big Java by Cay Horstmann</a:t>
            </a:r>
          </a:p>
          <a:p>
            <a:pPr>
              <a:defRPr/>
            </a:pPr>
            <a:r>
              <a:rPr lang="en-US"/>
              <a:t>Copyright © 2009 by John Wiley &amp; Sons. 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116551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i="0"/>
            </a:lvl1pPr>
          </a:lstStyle>
          <a:p>
            <a:pPr>
              <a:defRPr/>
            </a:pPr>
            <a:r>
              <a:rPr lang="en-US"/>
              <a:t>Big Java by Cay Horstmann</a:t>
            </a:r>
          </a:p>
          <a:p>
            <a:pPr>
              <a:defRPr/>
            </a:pPr>
            <a:r>
              <a:rPr lang="en-US"/>
              <a:t>Copyright © 2009 by John Wiley &amp; Sons. 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21833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i="0"/>
            </a:lvl1pPr>
          </a:lstStyle>
          <a:p>
            <a:pPr>
              <a:defRPr/>
            </a:pPr>
            <a:r>
              <a:rPr lang="en-US"/>
              <a:t>Big Java by Cay Horstmann</a:t>
            </a:r>
          </a:p>
          <a:p>
            <a:pPr>
              <a:defRPr/>
            </a:pPr>
            <a:r>
              <a:rPr lang="en-US"/>
              <a:t>Copyright © 2009 by John Wiley &amp; Sons. 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8431772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AE539D-CE38-4E3E-A608-3E55F7C156C9}" type="datetime1">
              <a:rPr lang="en-US"/>
              <a:pPr>
                <a:defRPr/>
              </a:pPr>
              <a:t>12/8/2021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8A483F-11C0-48D8-8C30-2A09A912FA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5182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4681AD-6FF1-4793-9E5B-ABE9EACEF44E}" type="datetime1">
              <a:rPr lang="en-US"/>
              <a:pPr>
                <a:defRPr/>
              </a:pPr>
              <a:t>12/8/2021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6F08D8-6455-4F45-BF6F-988AEBAEDA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1253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DF8319-4AAB-4294-B186-2BBEC38CFC45}" type="datetime1">
              <a:rPr lang="en-US"/>
              <a:pPr>
                <a:defRPr/>
              </a:pPr>
              <a:t>12/8/2021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0433E-4ECD-4866-B6AB-198C8E7A81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9791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F41DF3-FAFE-443B-A3F8-AF8CF5507A6B}" type="datetime1">
              <a:rPr lang="en-US"/>
              <a:pPr>
                <a:defRPr/>
              </a:pPr>
              <a:t>12/8/2021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C7CA16-9D81-41E0-B510-08387C0212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2364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C1282-F2E5-446D-AE42-D1BDB7EE21D9}" type="datetime1">
              <a:rPr lang="en-US"/>
              <a:pPr>
                <a:defRPr/>
              </a:pPr>
              <a:t>12/8/2021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52C9A7-6682-40E1-838B-42B66C76E2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3435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0A0C52-A40A-4256-BD30-869278393C58}" type="datetime1">
              <a:rPr lang="en-US"/>
              <a:pPr>
                <a:defRPr/>
              </a:pPr>
              <a:t>12/8/2021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176EF5-AD8B-4BBA-92CC-CE625C58D7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0193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DDD39E-10C6-4847-9145-6C61F3DD58D3}" type="datetime1">
              <a:rPr lang="en-US"/>
              <a:pPr>
                <a:defRPr/>
              </a:pPr>
              <a:t>12/8/2021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E77416-5D62-4F82-BD6D-89E323F5B11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1547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576018-FA6E-4D6A-B050-57AB397AF761}" type="datetime1">
              <a:rPr lang="en-US"/>
              <a:pPr>
                <a:defRPr/>
              </a:pPr>
              <a:t>12/8/2021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799973-C965-4AE0-BC6C-A982A55F07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0299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2BBE52-CDBB-4870-9602-457399921EDE}" type="datetime1">
              <a:rPr lang="en-US"/>
              <a:pPr>
                <a:defRPr/>
              </a:pPr>
              <a:t>12/8/2021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E2B47E-8862-479B-BB01-E564A6E5C56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2475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C93F44-E263-43A6-BE31-DA3ADA325EDB}" type="datetime1">
              <a:rPr lang="en-US"/>
              <a:pPr>
                <a:defRPr/>
              </a:pPr>
              <a:t>12/8/2021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AA9F24-C08E-4F7C-8ED2-7AC9805F04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7111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615E16-AF7D-44DD-97F5-95E68F30F02C}" type="datetime1">
              <a:rPr lang="en-US"/>
              <a:pPr>
                <a:defRPr/>
              </a:pPr>
              <a:t>12/8/2021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06F298-541C-44A7-9FE3-E627D4ED00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9673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250E4D-65C9-4D08-878C-E3B726964060}" type="datetime1">
              <a:rPr lang="en-US"/>
              <a:pPr>
                <a:defRPr/>
              </a:pPr>
              <a:t>12/8/2021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CF391F-6515-4600-8205-CA6FA8BB49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3817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0862E-F39F-463D-B7EE-72F0AD3B65B4}" type="datetime1">
              <a:rPr lang="en-US"/>
              <a:pPr>
                <a:defRPr/>
              </a:pPr>
              <a:t>12/8/2021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C411FB-A26C-4E1A-BCF3-2EB5669060F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0649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F73824-DE9B-4AEF-AFC7-51F5455CDCDD}" type="datetime1">
              <a:rPr lang="en-US"/>
              <a:pPr>
                <a:defRPr/>
              </a:pPr>
              <a:t>12/8/2021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C2FB42-F456-436A-A44E-FA701D2639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9050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6D80C4-8019-485E-9925-EB447D42E13E}" type="datetime1">
              <a:rPr lang="en-US"/>
              <a:pPr>
                <a:defRPr/>
              </a:pPr>
              <a:t>12/8/2021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A0BE7F-46ED-4CE0-B0D6-A7251DB74C4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19253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7405D1-6626-4989-B95F-224760304F8E}" type="datetime1">
              <a:rPr lang="en-US"/>
              <a:pPr>
                <a:defRPr/>
              </a:pPr>
              <a:t>12/8/2021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25F112-CCAB-4012-A1B9-39E9A6DBF7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60961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81C44A-C54F-481A-B6C4-44FC5734E0BE}" type="datetime1">
              <a:rPr lang="en-US"/>
              <a:pPr>
                <a:defRPr/>
              </a:pPr>
              <a:t>12/8/2021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610373-AF49-4296-A7FD-C328421CC7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69001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0099E4-C71B-4FE9-9921-5584E3C4DD8D}" type="datetime1">
              <a:rPr lang="en-US"/>
              <a:pPr>
                <a:defRPr/>
              </a:pPr>
              <a:t>12/8/2021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6813A2-7A66-4DEE-8BD7-0621307983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89389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0DAE42-2663-41C9-903D-6D153A64A809}" type="datetime1">
              <a:rPr lang="en-US"/>
              <a:pPr>
                <a:defRPr/>
              </a:pPr>
              <a:t>12/8/2021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2AC405-A4A4-4194-864C-BCE7829852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94456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44A83-6EB6-4494-9DF3-C42EDFC6D1F1}" type="datetime1">
              <a:rPr lang="en-US"/>
              <a:pPr>
                <a:defRPr/>
              </a:pPr>
              <a:t>12/8/2021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1E59DF-473D-4D9B-9488-CA4D7C2742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07303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971918-0E8C-4435-AAE6-FFFB71433711}" type="datetime1">
              <a:rPr lang="en-US"/>
              <a:pPr>
                <a:defRPr/>
              </a:pPr>
              <a:t>12/8/2021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4A2093-BF7B-4981-843C-34B8A6530D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91636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46CB43-CF64-471C-B1D3-6DD0C0A34B4F}" type="datetime1">
              <a:rPr lang="en-US"/>
              <a:pPr>
                <a:defRPr/>
              </a:pPr>
              <a:t>12/8/2021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AFE7DE-D0DC-4CD4-8EA2-73E11D4DA9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561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Line 2"/>
          <p:cNvSpPr>
            <a:spLocks noChangeShapeType="1"/>
          </p:cNvSpPr>
          <p:nvPr userDrawn="1"/>
        </p:nvSpPr>
        <p:spPr bwMode="auto">
          <a:xfrm>
            <a:off x="0" y="762000"/>
            <a:ext cx="9144000" cy="0"/>
          </a:xfrm>
          <a:prstGeom prst="line">
            <a:avLst/>
          </a:prstGeom>
          <a:noFill/>
          <a:ln w="50800">
            <a:solidFill>
              <a:srgbClr val="C6E8B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" name="Footer Placeholder 4"/>
          <p:cNvSpPr>
            <a:spLocks noGrp="1"/>
          </p:cNvSpPr>
          <p:nvPr userDrawn="1">
            <p:ph type="ftr" sz="quarter" idx="3"/>
          </p:nvPr>
        </p:nvSpPr>
        <p:spPr>
          <a:xfrm>
            <a:off x="4800600" y="6305550"/>
            <a:ext cx="4343400" cy="4762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i="1"/>
            </a:lvl1pPr>
          </a:lstStyle>
          <a:p>
            <a:pPr>
              <a:defRPr/>
            </a:pPr>
            <a:r>
              <a:rPr lang="en-US"/>
              <a:t>Big Java by Cay Horstmann</a:t>
            </a:r>
          </a:p>
          <a:p>
            <a:pPr>
              <a:defRPr/>
            </a:pPr>
            <a:r>
              <a:rPr lang="en-US"/>
              <a:t>Copyright © 2009 by John Wiley &amp; Sons.  All rights reserved.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69" r:id="rId1"/>
    <p:sldLayoutId id="2147484070" r:id="rId2"/>
    <p:sldLayoutId id="2147484071" r:id="rId3"/>
    <p:sldLayoutId id="2147484072" r:id="rId4"/>
    <p:sldLayoutId id="2147484073" r:id="rId5"/>
    <p:sldLayoutId id="2147484074" r:id="rId6"/>
    <p:sldLayoutId id="2147484075" r:id="rId7"/>
    <p:sldLayoutId id="2147484076" r:id="rId8"/>
    <p:sldLayoutId id="2147484077" r:id="rId9"/>
    <p:sldLayoutId id="2147484078" r:id="rId10"/>
    <p:sldLayoutId id="2147484079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07" charset="-128"/>
          <a:cs typeface="ＭＳ Ｐゴシック" pitchFamily="-107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107" charset="-128"/>
          <a:cs typeface="ＭＳ Ｐゴシック" pitchFamily="-107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107" charset="-128"/>
          <a:cs typeface="ＭＳ Ｐゴシック" pitchFamily="-107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107" charset="-128"/>
          <a:cs typeface="ＭＳ Ｐゴシック" pitchFamily="-107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107" charset="-128"/>
          <a:cs typeface="ＭＳ Ｐゴシック" pitchFamily="-107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-107" charset="-128"/>
          <a:cs typeface="ＭＳ Ｐゴシック" pitchFamily="-107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107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107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07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CA" altLang="en-US"/>
              <a:t>Click to edit Master title style</a:t>
            </a:r>
            <a:endParaRPr lang="en-US" altLang="en-US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CA" altLang="en-US"/>
              <a:t>Click to edit Master text styles</a:t>
            </a:r>
          </a:p>
          <a:p>
            <a:pPr lvl="1"/>
            <a:r>
              <a:rPr lang="en-CA" altLang="en-US"/>
              <a:t>Second level</a:t>
            </a:r>
          </a:p>
          <a:p>
            <a:pPr lvl="2"/>
            <a:r>
              <a:rPr lang="en-CA" altLang="en-US"/>
              <a:t>Third level</a:t>
            </a:r>
          </a:p>
          <a:p>
            <a:pPr lvl="3"/>
            <a:r>
              <a:rPr lang="en-CA" altLang="en-US"/>
              <a:t>Fourth level</a:t>
            </a:r>
          </a:p>
          <a:p>
            <a:pPr lvl="4"/>
            <a:r>
              <a:rPr lang="en-CA" altLang="en-US"/>
              <a:t>Fifth level</a:t>
            </a:r>
            <a:endParaRPr lang="en-US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06FB5DCC-1622-4746-AC42-5126CD528FC1}" type="datetime1">
              <a:rPr lang="en-US"/>
              <a:pPr>
                <a:defRPr/>
              </a:pPr>
              <a:t>12/8/2021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-107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F8E294FA-10DA-4717-88CD-381616610A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47" r:id="rId1"/>
    <p:sldLayoutId id="2147484048" r:id="rId2"/>
    <p:sldLayoutId id="2147484049" r:id="rId3"/>
    <p:sldLayoutId id="2147484050" r:id="rId4"/>
    <p:sldLayoutId id="2147484051" r:id="rId5"/>
    <p:sldLayoutId id="2147484052" r:id="rId6"/>
    <p:sldLayoutId id="2147484053" r:id="rId7"/>
    <p:sldLayoutId id="2147484054" r:id="rId8"/>
    <p:sldLayoutId id="2147484055" r:id="rId9"/>
    <p:sldLayoutId id="2147484056" r:id="rId10"/>
    <p:sldLayoutId id="2147484057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-107" charset="-128"/>
          <a:cs typeface="ＭＳ Ｐゴシック" pitchFamily="-107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7" charset="0"/>
          <a:ea typeface="ＭＳ Ｐゴシック" pitchFamily="-107" charset="-128"/>
          <a:cs typeface="ＭＳ Ｐゴシック" pitchFamily="-107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7" charset="0"/>
          <a:ea typeface="ＭＳ Ｐゴシック" pitchFamily="-107" charset="-128"/>
          <a:cs typeface="ＭＳ Ｐゴシック" pitchFamily="-107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7" charset="0"/>
          <a:ea typeface="ＭＳ Ｐゴシック" pitchFamily="-107" charset="-128"/>
          <a:cs typeface="ＭＳ Ｐゴシック" pitchFamily="-107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7" charset="0"/>
          <a:ea typeface="ＭＳ Ｐゴシック" pitchFamily="-107" charset="-128"/>
          <a:cs typeface="ＭＳ Ｐゴシック" pitchFamily="-107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7" charset="0"/>
          <a:ea typeface="ＭＳ Ｐゴシック" pitchFamily="-107" charset="-128"/>
          <a:cs typeface="ＭＳ Ｐゴシック" pitchFamily="-107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7" charset="0"/>
          <a:ea typeface="ＭＳ Ｐゴシック" pitchFamily="-107" charset="-128"/>
          <a:cs typeface="ＭＳ Ｐゴシック" pitchFamily="-107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7" charset="0"/>
          <a:ea typeface="ＭＳ Ｐゴシック" pitchFamily="-107" charset="-128"/>
          <a:cs typeface="ＭＳ Ｐゴシック" pitchFamily="-107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7" charset="0"/>
          <a:ea typeface="ＭＳ Ｐゴシック" pitchFamily="-107" charset="-128"/>
          <a:cs typeface="ＭＳ Ｐゴシック" pitchFamily="-107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pitchFamily="-107" charset="-128"/>
          <a:cs typeface="ＭＳ Ｐゴシック" pitchFamily="-107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pitchFamily="-107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pitchFamily="-107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pitchFamily="-107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pitchFamily="-107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CA" altLang="en-US"/>
              <a:t>Click to edit Master title style</a:t>
            </a:r>
            <a:endParaRPr lang="en-US" altLang="en-US"/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CA" altLang="en-US"/>
              <a:t>Click to edit Master text styles</a:t>
            </a:r>
          </a:p>
          <a:p>
            <a:pPr lvl="1"/>
            <a:r>
              <a:rPr lang="en-CA" altLang="en-US"/>
              <a:t>Second level</a:t>
            </a:r>
          </a:p>
          <a:p>
            <a:pPr lvl="2"/>
            <a:r>
              <a:rPr lang="en-CA" altLang="en-US"/>
              <a:t>Third level</a:t>
            </a:r>
          </a:p>
          <a:p>
            <a:pPr lvl="3"/>
            <a:r>
              <a:rPr lang="en-CA" altLang="en-US"/>
              <a:t>Fourth level</a:t>
            </a:r>
          </a:p>
          <a:p>
            <a:pPr lvl="4"/>
            <a:r>
              <a:rPr lang="en-CA" altLang="en-US"/>
              <a:t>Fifth level</a:t>
            </a:r>
            <a:endParaRPr lang="en-US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77DB2CAC-40AB-4EC1-9DC5-A3B607D33AE6}" type="datetime1">
              <a:rPr lang="en-US"/>
              <a:pPr>
                <a:defRPr/>
              </a:pPr>
              <a:t>12/8/2021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-107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E7790DF3-8BAB-4D54-9021-31C5F972CF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3079" name="Footer Placeholder 4"/>
          <p:cNvSpPr txBox="1">
            <a:spLocks/>
          </p:cNvSpPr>
          <p:nvPr userDrawn="1"/>
        </p:nvSpPr>
        <p:spPr bwMode="auto">
          <a:xfrm>
            <a:off x="4800600" y="6305550"/>
            <a:ext cx="43434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r" eaLnBrk="1" hangingPunct="1">
              <a:defRPr/>
            </a:pPr>
            <a:r>
              <a:rPr lang="en-US" sz="1200" i="1"/>
              <a:t>Big Java</a:t>
            </a:r>
            <a:r>
              <a:rPr lang="en-US" sz="1200"/>
              <a:t> by Cay Horstmann</a:t>
            </a:r>
          </a:p>
          <a:p>
            <a:pPr algn="r" eaLnBrk="1" hangingPunct="1">
              <a:defRPr/>
            </a:pPr>
            <a:r>
              <a:rPr lang="en-US" sz="1200"/>
              <a:t>Copyright © 2009 by John Wiley &amp; Sons.  All rights reserved.</a:t>
            </a:r>
          </a:p>
        </p:txBody>
      </p:sp>
      <p:sp>
        <p:nvSpPr>
          <p:cNvPr id="3080" name="Line 2"/>
          <p:cNvSpPr>
            <a:spLocks noChangeShapeType="1"/>
          </p:cNvSpPr>
          <p:nvPr userDrawn="1"/>
        </p:nvSpPr>
        <p:spPr bwMode="auto">
          <a:xfrm>
            <a:off x="0" y="762000"/>
            <a:ext cx="9144000" cy="0"/>
          </a:xfrm>
          <a:prstGeom prst="line">
            <a:avLst/>
          </a:prstGeom>
          <a:noFill/>
          <a:ln w="50800">
            <a:solidFill>
              <a:srgbClr val="DDF1F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58" r:id="rId1"/>
    <p:sldLayoutId id="2147484059" r:id="rId2"/>
    <p:sldLayoutId id="2147484060" r:id="rId3"/>
    <p:sldLayoutId id="2147484061" r:id="rId4"/>
    <p:sldLayoutId id="2147484062" r:id="rId5"/>
    <p:sldLayoutId id="2147484063" r:id="rId6"/>
    <p:sldLayoutId id="2147484064" r:id="rId7"/>
    <p:sldLayoutId id="2147484065" r:id="rId8"/>
    <p:sldLayoutId id="2147484066" r:id="rId9"/>
    <p:sldLayoutId id="2147484067" r:id="rId10"/>
    <p:sldLayoutId id="2147484068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-107" charset="-128"/>
          <a:cs typeface="ＭＳ Ｐゴシック" pitchFamily="-107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7" charset="0"/>
          <a:ea typeface="ＭＳ Ｐゴシック" pitchFamily="-107" charset="-128"/>
          <a:cs typeface="ＭＳ Ｐゴシック" pitchFamily="-107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7" charset="0"/>
          <a:ea typeface="ＭＳ Ｐゴシック" pitchFamily="-107" charset="-128"/>
          <a:cs typeface="ＭＳ Ｐゴシック" pitchFamily="-107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7" charset="0"/>
          <a:ea typeface="ＭＳ Ｐゴシック" pitchFamily="-107" charset="-128"/>
          <a:cs typeface="ＭＳ Ｐゴシック" pitchFamily="-107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7" charset="0"/>
          <a:ea typeface="ＭＳ Ｐゴシック" pitchFamily="-107" charset="-128"/>
          <a:cs typeface="ＭＳ Ｐゴシック" pitchFamily="-107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7" charset="0"/>
          <a:ea typeface="ＭＳ Ｐゴシック" pitchFamily="-107" charset="-128"/>
          <a:cs typeface="ＭＳ Ｐゴシック" pitchFamily="-107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7" charset="0"/>
          <a:ea typeface="ＭＳ Ｐゴシック" pitchFamily="-107" charset="-128"/>
          <a:cs typeface="ＭＳ Ｐゴシック" pitchFamily="-107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7" charset="0"/>
          <a:ea typeface="ＭＳ Ｐゴシック" pitchFamily="-107" charset="-128"/>
          <a:cs typeface="ＭＳ Ｐゴシック" pitchFamily="-107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7" charset="0"/>
          <a:ea typeface="ＭＳ Ｐゴシック" pitchFamily="-107" charset="-128"/>
          <a:cs typeface="ＭＳ Ｐゴシック" pitchFamily="-107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pitchFamily="-107" charset="-128"/>
          <a:cs typeface="ＭＳ Ｐゴシック" pitchFamily="-107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pitchFamily="-107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pitchFamily="-107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pitchFamily="-107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pitchFamily="-107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3"/>
          <p:cNvSpPr txBox="1">
            <a:spLocks noChangeArrowheads="1"/>
          </p:cNvSpPr>
          <p:nvPr/>
        </p:nvSpPr>
        <p:spPr bwMode="auto">
          <a:xfrm>
            <a:off x="2743200" y="5334000"/>
            <a:ext cx="6096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2400" b="1">
                <a:latin typeface="Lucida Sans" pitchFamily="34" charset="0"/>
              </a:rPr>
              <a:t>Chapter 11 </a:t>
            </a:r>
            <a:r>
              <a:rPr lang="en-US" altLang="en-US" sz="2400"/>
              <a:t>–</a:t>
            </a:r>
            <a:r>
              <a:rPr lang="en-US" altLang="en-US" sz="2400" b="1">
                <a:latin typeface="Lucida Sans" pitchFamily="34" charset="0"/>
              </a:rPr>
              <a:t> Object-Oriented Design</a:t>
            </a:r>
          </a:p>
        </p:txBody>
      </p:sp>
      <p:pic>
        <p:nvPicPr>
          <p:cNvPr id="15363" name="Picture 4" descr="bigjava4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0"/>
            <a:ext cx="3810000" cy="471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4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800600" y="6305550"/>
            <a:ext cx="43434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r" eaLnBrk="1" hangingPunct="1"/>
            <a:r>
              <a:rPr lang="en-US" altLang="en-US" i="1"/>
              <a:t>Big Java</a:t>
            </a:r>
            <a:r>
              <a:rPr lang="en-US" altLang="en-US"/>
              <a:t> by Cay Horstmann</a:t>
            </a:r>
          </a:p>
          <a:p>
            <a:pPr algn="r" eaLnBrk="1" hangingPunct="1"/>
            <a:r>
              <a:rPr lang="en-US" altLang="en-US"/>
              <a:t>Copyright © 2009 by John Wiley &amp; Sons.  All rights reserved.</a:t>
            </a:r>
          </a:p>
        </p:txBody>
      </p:sp>
      <p:sp>
        <p:nvSpPr>
          <p:cNvPr id="15365" name="Line 4"/>
          <p:cNvSpPr>
            <a:spLocks noChangeShapeType="1"/>
          </p:cNvSpPr>
          <p:nvPr/>
        </p:nvSpPr>
        <p:spPr bwMode="auto">
          <a:xfrm>
            <a:off x="0" y="5867400"/>
            <a:ext cx="9144000" cy="0"/>
          </a:xfrm>
          <a:prstGeom prst="line">
            <a:avLst/>
          </a:prstGeom>
          <a:noFill/>
          <a:ln w="50800">
            <a:solidFill>
              <a:srgbClr val="C6E8B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0" y="906463"/>
            <a:ext cx="9144000" cy="433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236538" indent="-236538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400" dirty="0"/>
              <a:t>To learn about the software life cycle </a:t>
            </a:r>
          </a:p>
          <a:p>
            <a:pPr algn="l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400" dirty="0">
                <a:solidFill>
                  <a:srgbClr val="00B050"/>
                </a:solidFill>
              </a:rPr>
              <a:t>To learn how to discover new classes and methods </a:t>
            </a:r>
          </a:p>
          <a:p>
            <a:pPr algn="l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400" dirty="0">
                <a:solidFill>
                  <a:srgbClr val="00B050"/>
                </a:solidFill>
              </a:rPr>
              <a:t>To understand the use of CRC cards for class discovery </a:t>
            </a:r>
          </a:p>
          <a:p>
            <a:pPr algn="l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400" dirty="0">
                <a:solidFill>
                  <a:srgbClr val="00B050"/>
                </a:solidFill>
              </a:rPr>
              <a:t>To be able to identify inheritance, aggregation, and dependency relationships between classes </a:t>
            </a:r>
          </a:p>
          <a:p>
            <a:pPr algn="l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400" dirty="0">
                <a:solidFill>
                  <a:srgbClr val="00B050"/>
                </a:solidFill>
              </a:rPr>
              <a:t>To master the use of UML class diagrams to describe class relationships </a:t>
            </a:r>
          </a:p>
          <a:p>
            <a:pPr algn="l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400" dirty="0">
                <a:solidFill>
                  <a:srgbClr val="00B050"/>
                </a:solidFill>
              </a:rPr>
              <a:t>To learn how to use object-oriented design to build complex programs </a:t>
            </a:r>
          </a:p>
        </p:txBody>
      </p:sp>
      <p:sp>
        <p:nvSpPr>
          <p:cNvPr id="16387" name="Text Box 7"/>
          <p:cNvSpPr txBox="1">
            <a:spLocks noChangeArrowheads="1"/>
          </p:cNvSpPr>
          <p:nvPr/>
        </p:nvSpPr>
        <p:spPr bwMode="auto">
          <a:xfrm>
            <a:off x="0" y="304800"/>
            <a:ext cx="701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/>
            <a:r>
              <a:rPr lang="en-US" altLang="en-US" sz="2400" b="1">
                <a:latin typeface="Lucida Sans" pitchFamily="34" charset="0"/>
              </a:rPr>
              <a:t>Chapter</a:t>
            </a:r>
            <a:r>
              <a:rPr lang="en-US" altLang="en-US" sz="2400" b="1">
                <a:solidFill>
                  <a:srgbClr val="0033CC"/>
                </a:solidFill>
              </a:rPr>
              <a:t> </a:t>
            </a:r>
            <a:r>
              <a:rPr lang="en-US" altLang="en-US" sz="2400" b="1">
                <a:latin typeface="Lucida Sans" pitchFamily="34" charset="0"/>
              </a:rPr>
              <a:t>Goals</a:t>
            </a:r>
          </a:p>
        </p:txBody>
      </p:sp>
      <p:sp>
        <p:nvSpPr>
          <p:cNvPr id="16388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eaLnBrk="1" hangingPunct="1"/>
            <a:r>
              <a:rPr lang="en-US" altLang="en-US" i="1"/>
              <a:t>Big Java</a:t>
            </a:r>
            <a:r>
              <a:rPr lang="en-US" altLang="en-US"/>
              <a:t> by Cay Horstmann</a:t>
            </a:r>
          </a:p>
          <a:p>
            <a:pPr eaLnBrk="1" hangingPunct="1"/>
            <a:r>
              <a:rPr lang="en-US" altLang="en-US"/>
              <a:t>Copyright © 2009 by John Wiley &amp; Sons.  All rights reserved.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eaLnBrk="1" hangingPunct="1"/>
            <a:r>
              <a:rPr lang="en-US" altLang="en-US" i="1"/>
              <a:t>Big Java</a:t>
            </a:r>
            <a:r>
              <a:rPr lang="en-US" altLang="en-US"/>
              <a:t> by Cay Horstmann</a:t>
            </a:r>
          </a:p>
          <a:p>
            <a:pPr eaLnBrk="1" hangingPunct="1"/>
            <a:r>
              <a:rPr lang="en-US" altLang="en-US"/>
              <a:t>Copyright © 2009 by John Wiley &amp; Sons.  All rights reserved.</a:t>
            </a:r>
          </a:p>
        </p:txBody>
      </p:sp>
      <p:sp>
        <p:nvSpPr>
          <p:cNvPr id="95235" name="Rectangle 3"/>
          <p:cNvSpPr>
            <a:spLocks noChangeArrowheads="1"/>
          </p:cNvSpPr>
          <p:nvPr/>
        </p:nvSpPr>
        <p:spPr bwMode="auto">
          <a:xfrm>
            <a:off x="0" y="914400"/>
            <a:ext cx="91440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>
              <a:buFont typeface="Arial" charset="0"/>
              <a:buAutoNum type="arabicPeriod"/>
            </a:pPr>
            <a:r>
              <a:rPr lang="en-US" altLang="en-US" sz="2400"/>
              <a:t>Discover classes </a:t>
            </a:r>
          </a:p>
          <a:p>
            <a:pPr algn="l" eaLnBrk="1" hangingPunct="1">
              <a:spcBef>
                <a:spcPct val="50000"/>
              </a:spcBef>
              <a:buFont typeface="Arial" charset="0"/>
              <a:buAutoNum type="arabicPeriod"/>
            </a:pPr>
            <a:r>
              <a:rPr lang="en-US" altLang="en-US" sz="2400"/>
              <a:t>Determine responsibilities of each class </a:t>
            </a:r>
          </a:p>
          <a:p>
            <a:pPr algn="l" eaLnBrk="1" hangingPunct="1">
              <a:spcBef>
                <a:spcPct val="50000"/>
              </a:spcBef>
              <a:buFont typeface="Arial" charset="0"/>
              <a:buAutoNum type="arabicPeriod"/>
            </a:pPr>
            <a:r>
              <a:rPr lang="en-US" altLang="en-US" sz="2400"/>
              <a:t>Describe relationships between the classes </a:t>
            </a:r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0" y="304800"/>
            <a:ext cx="701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/>
            <a:r>
              <a:rPr lang="en-US" altLang="en-US" sz="2400" b="1">
                <a:latin typeface="Lucida Sans" pitchFamily="34" charset="0"/>
              </a:rPr>
              <a:t>Object-Oriented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eaLnBrk="1" hangingPunct="1"/>
            <a:r>
              <a:rPr lang="en-US" altLang="en-US" i="1"/>
              <a:t>Big Java</a:t>
            </a:r>
            <a:r>
              <a:rPr lang="en-US" altLang="en-US"/>
              <a:t> by Cay Horstmann</a:t>
            </a:r>
          </a:p>
          <a:p>
            <a:pPr eaLnBrk="1" hangingPunct="1"/>
            <a:r>
              <a:rPr lang="en-US" altLang="en-US"/>
              <a:t>Copyright © 2009 by John Wiley &amp; Sons.  All rights reserved.</a:t>
            </a:r>
          </a:p>
        </p:txBody>
      </p:sp>
      <p:sp>
        <p:nvSpPr>
          <p:cNvPr id="94211" name="Rectangle 3"/>
          <p:cNvSpPr>
            <a:spLocks noChangeArrowheads="1"/>
          </p:cNvSpPr>
          <p:nvPr/>
        </p:nvSpPr>
        <p:spPr bwMode="auto">
          <a:xfrm>
            <a:off x="0" y="914400"/>
            <a:ext cx="9144000" cy="323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236538" indent="-236538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>
              <a:buFontTx/>
              <a:buChar char="•"/>
            </a:pPr>
            <a:r>
              <a:rPr lang="en-US" altLang="en-US" sz="2400"/>
              <a:t>A class represents some useful concept </a:t>
            </a:r>
          </a:p>
          <a:p>
            <a:pPr algn="l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400"/>
              <a:t>Concrete entities: Bank accounts, ellipses, and products </a:t>
            </a:r>
          </a:p>
          <a:p>
            <a:pPr algn="l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400"/>
              <a:t>Abstract concepts: Streams and windows </a:t>
            </a:r>
          </a:p>
          <a:p>
            <a:pPr algn="l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400"/>
              <a:t>Find classes by looking for nouns in the task description </a:t>
            </a:r>
          </a:p>
          <a:p>
            <a:pPr algn="l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400"/>
              <a:t>Define the behavior for each class </a:t>
            </a:r>
          </a:p>
          <a:p>
            <a:pPr algn="l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400"/>
              <a:t>Find methods by looking for verbs in the task description</a:t>
            </a:r>
            <a:endParaRPr lang="en-US" altLang="en-US"/>
          </a:p>
        </p:txBody>
      </p:sp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0" y="304800"/>
            <a:ext cx="701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/>
            <a:r>
              <a:rPr lang="en-US" altLang="en-US" sz="2400" b="1">
                <a:latin typeface="Lucida Sans" pitchFamily="34" charset="0"/>
              </a:rPr>
              <a:t>Discovering Classes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eaLnBrk="1" hangingPunct="1"/>
            <a:r>
              <a:rPr lang="en-US" altLang="en-US" i="1"/>
              <a:t>Big Java</a:t>
            </a:r>
            <a:r>
              <a:rPr lang="en-US" altLang="en-US"/>
              <a:t> by Cay Horstmann</a:t>
            </a:r>
          </a:p>
          <a:p>
            <a:pPr eaLnBrk="1" hangingPunct="1"/>
            <a:r>
              <a:rPr lang="en-US" altLang="en-US"/>
              <a:t>Copyright © 2009 by John Wiley &amp; Sons.  All rights reserved.</a:t>
            </a:r>
          </a:p>
        </p:txBody>
      </p:sp>
      <p:sp>
        <p:nvSpPr>
          <p:cNvPr id="19459" name="Text Box 5"/>
          <p:cNvSpPr txBox="1">
            <a:spLocks noChangeArrowheads="1"/>
          </p:cNvSpPr>
          <p:nvPr/>
        </p:nvSpPr>
        <p:spPr bwMode="auto">
          <a:xfrm>
            <a:off x="0" y="304800"/>
            <a:ext cx="701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/>
            <a:r>
              <a:rPr lang="en-US" altLang="en-US" sz="2400" b="1">
                <a:latin typeface="Lucida Sans" pitchFamily="34" charset="0"/>
              </a:rPr>
              <a:t>Example: Invoice</a:t>
            </a:r>
          </a:p>
        </p:txBody>
      </p:sp>
      <p:pic>
        <p:nvPicPr>
          <p:cNvPr id="19460" name="Picture 5" descr="invoic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914400"/>
            <a:ext cx="6324600" cy="531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eaLnBrk="1" hangingPunct="1"/>
            <a:r>
              <a:rPr lang="en-US" altLang="en-US" i="1"/>
              <a:t>Big Java</a:t>
            </a:r>
            <a:r>
              <a:rPr lang="en-US" altLang="en-US"/>
              <a:t> by Cay Horstmann</a:t>
            </a:r>
          </a:p>
          <a:p>
            <a:pPr eaLnBrk="1" hangingPunct="1"/>
            <a:r>
              <a:rPr lang="en-US" altLang="en-US"/>
              <a:t>Copyright © 2009 by John Wiley &amp; Sons.  All rights reserved.</a:t>
            </a:r>
          </a:p>
        </p:txBody>
      </p:sp>
      <p:sp>
        <p:nvSpPr>
          <p:cNvPr id="92163" name="Rectangle 3"/>
          <p:cNvSpPr>
            <a:spLocks noChangeArrowheads="1"/>
          </p:cNvSpPr>
          <p:nvPr/>
        </p:nvSpPr>
        <p:spPr bwMode="auto">
          <a:xfrm>
            <a:off x="0" y="936625"/>
            <a:ext cx="9144000" cy="249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173038" indent="-173038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>
              <a:buFontTx/>
              <a:buChar char="•"/>
            </a:pPr>
            <a:r>
              <a:rPr lang="en-US" altLang="en-US" sz="2400" dirty="0"/>
              <a:t>Classes that come to mind: </a:t>
            </a:r>
            <a:r>
              <a:rPr lang="en-US" altLang="en-US" sz="2400" dirty="0">
                <a:solidFill>
                  <a:srgbClr val="6E7069"/>
                </a:solidFill>
                <a:latin typeface="Courier New" pitchFamily="49" charset="0"/>
              </a:rPr>
              <a:t>Invoice</a:t>
            </a:r>
            <a:r>
              <a:rPr lang="en-US" altLang="en-US" sz="2400" dirty="0"/>
              <a:t>, </a:t>
            </a:r>
            <a:r>
              <a:rPr lang="en-US" altLang="en-US" sz="2400" dirty="0" err="1">
                <a:solidFill>
                  <a:srgbClr val="6E7069"/>
                </a:solidFill>
                <a:latin typeface="Courier New" pitchFamily="49" charset="0"/>
              </a:rPr>
              <a:t>LineItem</a:t>
            </a:r>
            <a:r>
              <a:rPr lang="en-US" altLang="en-US" sz="2400" dirty="0"/>
              <a:t>, and </a:t>
            </a:r>
            <a:r>
              <a:rPr lang="en-US" altLang="en-US" sz="2400" dirty="0">
                <a:solidFill>
                  <a:srgbClr val="6E7069"/>
                </a:solidFill>
                <a:latin typeface="Courier New" pitchFamily="49" charset="0"/>
              </a:rPr>
              <a:t>Customer</a:t>
            </a:r>
            <a:r>
              <a:rPr lang="en-US" altLang="en-US" sz="2400" dirty="0"/>
              <a:t> </a:t>
            </a:r>
          </a:p>
          <a:p>
            <a:pPr algn="l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400" dirty="0"/>
              <a:t>Good idea to keep a list of candidate classes </a:t>
            </a:r>
          </a:p>
          <a:p>
            <a:pPr algn="l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400" dirty="0"/>
              <a:t>Brainstorm, simply put all ideas for classes onto the list </a:t>
            </a:r>
          </a:p>
          <a:p>
            <a:pPr algn="l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400" dirty="0"/>
              <a:t>You can exclude not useful ones later </a:t>
            </a:r>
          </a:p>
        </p:txBody>
      </p:sp>
      <p:sp>
        <p:nvSpPr>
          <p:cNvPr id="20484" name="Text Box 4"/>
          <p:cNvSpPr txBox="1">
            <a:spLocks noChangeArrowheads="1"/>
          </p:cNvSpPr>
          <p:nvPr/>
        </p:nvSpPr>
        <p:spPr bwMode="auto">
          <a:xfrm>
            <a:off x="0" y="304800"/>
            <a:ext cx="701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/>
            <a:r>
              <a:rPr lang="en-US" altLang="en-US" sz="2400" b="1">
                <a:latin typeface="Lucida Sans" pitchFamily="34" charset="0"/>
              </a:rPr>
              <a:t>Example: Invoice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eaLnBrk="1" hangingPunct="1"/>
            <a:r>
              <a:rPr lang="en-US" altLang="en-US" i="1"/>
              <a:t>Big Java</a:t>
            </a:r>
            <a:r>
              <a:rPr lang="en-US" altLang="en-US"/>
              <a:t> by Cay Horstmann</a:t>
            </a:r>
          </a:p>
          <a:p>
            <a:pPr eaLnBrk="1" hangingPunct="1"/>
            <a:r>
              <a:rPr lang="en-US" altLang="en-US"/>
              <a:t>Copyright © 2009 by John Wiley &amp; Sons.  All rights reserved.</a:t>
            </a:r>
          </a:p>
        </p:txBody>
      </p:sp>
      <p:sp>
        <p:nvSpPr>
          <p:cNvPr id="91139" name="Rectangle 3"/>
          <p:cNvSpPr>
            <a:spLocks noChangeArrowheads="1"/>
          </p:cNvSpPr>
          <p:nvPr/>
        </p:nvSpPr>
        <p:spPr bwMode="auto">
          <a:xfrm>
            <a:off x="0" y="912813"/>
            <a:ext cx="9144000" cy="400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36538" indent="-236538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693738" indent="-236538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50938" indent="-236538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>
              <a:buFontTx/>
              <a:buChar char="•"/>
            </a:pPr>
            <a:r>
              <a:rPr lang="en-US" altLang="en-US" sz="2400"/>
              <a:t>Keep the following points in mind: </a:t>
            </a:r>
          </a:p>
          <a:p>
            <a:pPr lvl="1" algn="l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000" i="1"/>
              <a:t>Class represents set of objects with the same behavior</a:t>
            </a:r>
            <a:r>
              <a:rPr lang="en-US" altLang="en-US" i="1"/>
              <a:t> </a:t>
            </a:r>
          </a:p>
          <a:p>
            <a:pPr lvl="2" algn="l" eaLnBrk="1" hangingPunct="1">
              <a:spcBef>
                <a:spcPts val="1200"/>
              </a:spcBef>
              <a:buSzPct val="75000"/>
              <a:buFontTx/>
              <a:buChar char="o"/>
            </a:pPr>
            <a:r>
              <a:rPr lang="en-US" altLang="en-US" i="1"/>
              <a:t>Entities with multiple occurrences in problem description are good candidates for objects </a:t>
            </a:r>
          </a:p>
          <a:p>
            <a:pPr lvl="2" algn="l" eaLnBrk="1" hangingPunct="1">
              <a:buSzPct val="75000"/>
              <a:buFontTx/>
              <a:buChar char="o"/>
            </a:pPr>
            <a:r>
              <a:rPr lang="en-US" altLang="en-US" i="1"/>
              <a:t>Find out what they have in common </a:t>
            </a:r>
          </a:p>
          <a:p>
            <a:pPr lvl="2" algn="l" eaLnBrk="1" hangingPunct="1">
              <a:buSzPct val="75000"/>
              <a:buFontTx/>
              <a:buChar char="o"/>
            </a:pPr>
            <a:r>
              <a:rPr lang="en-US" altLang="en-US" i="1"/>
              <a:t>Design classes to capture commonalities </a:t>
            </a:r>
          </a:p>
          <a:p>
            <a:pPr lvl="1" algn="l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000" i="1"/>
              <a:t>Represent some entities as objects, others as primitive types</a:t>
            </a:r>
            <a:r>
              <a:rPr lang="en-US" altLang="en-US" i="1"/>
              <a:t> </a:t>
            </a:r>
          </a:p>
          <a:p>
            <a:pPr lvl="2" algn="l" eaLnBrk="1" hangingPunct="1">
              <a:spcBef>
                <a:spcPts val="1200"/>
              </a:spcBef>
              <a:buSzPct val="75000"/>
              <a:buFontTx/>
              <a:buChar char="o"/>
            </a:pPr>
            <a:r>
              <a:rPr lang="en-US" altLang="en-US" i="1"/>
              <a:t>Should we make a class </a:t>
            </a:r>
            <a:r>
              <a:rPr lang="en-US" altLang="en-US" i="1">
                <a:solidFill>
                  <a:srgbClr val="6E7069"/>
                </a:solidFill>
                <a:latin typeface="Courier New" pitchFamily="49" charset="0"/>
                <a:cs typeface="Courier New" pitchFamily="49" charset="0"/>
              </a:rPr>
              <a:t>Address</a:t>
            </a:r>
            <a:r>
              <a:rPr lang="en-US" altLang="en-US" i="1">
                <a:solidFill>
                  <a:srgbClr val="6E7069"/>
                </a:solidFill>
                <a:cs typeface="Courier New" pitchFamily="49" charset="0"/>
              </a:rPr>
              <a:t> </a:t>
            </a:r>
            <a:r>
              <a:rPr lang="en-US" altLang="en-US" i="1">
                <a:cs typeface="Courier New" pitchFamily="49" charset="0"/>
              </a:rPr>
              <a:t>or use a </a:t>
            </a:r>
            <a:r>
              <a:rPr lang="en-US" altLang="en-US" i="1">
                <a:solidFill>
                  <a:srgbClr val="6E7069"/>
                </a:solidFill>
                <a:latin typeface="Courier New" pitchFamily="49" charset="0"/>
                <a:cs typeface="Courier New" pitchFamily="49" charset="0"/>
              </a:rPr>
              <a:t>String</a:t>
            </a:r>
            <a:r>
              <a:rPr lang="en-US" altLang="en-US" i="1">
                <a:cs typeface="Courier New" pitchFamily="49" charset="0"/>
              </a:rPr>
              <a:t>? </a:t>
            </a:r>
          </a:p>
          <a:p>
            <a:pPr lvl="1" algn="l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000" i="1">
                <a:cs typeface="Courier New" pitchFamily="49" charset="0"/>
              </a:rPr>
              <a:t>Not all classes can be discovered in analysis phase </a:t>
            </a:r>
          </a:p>
          <a:p>
            <a:pPr lvl="1" algn="l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000" i="1">
                <a:cs typeface="Courier New" pitchFamily="49" charset="0"/>
              </a:rPr>
              <a:t>Some classes may already exist </a:t>
            </a:r>
          </a:p>
        </p:txBody>
      </p:sp>
      <p:sp>
        <p:nvSpPr>
          <p:cNvPr id="21508" name="Text Box 4"/>
          <p:cNvSpPr txBox="1">
            <a:spLocks noChangeArrowheads="1"/>
          </p:cNvSpPr>
          <p:nvPr/>
        </p:nvSpPr>
        <p:spPr bwMode="auto">
          <a:xfrm>
            <a:off x="0" y="304800"/>
            <a:ext cx="701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/>
            <a:r>
              <a:rPr lang="en-US" altLang="en-US" sz="2400" b="1">
                <a:latin typeface="Lucida Sans" pitchFamily="34" charset="0"/>
              </a:rPr>
              <a:t>Finding Classes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eaLnBrk="1" hangingPunct="1"/>
            <a:r>
              <a:rPr lang="en-US" altLang="en-US" i="1"/>
              <a:t>Big Java</a:t>
            </a:r>
            <a:r>
              <a:rPr lang="en-US" altLang="en-US"/>
              <a:t> by Cay Horstmann</a:t>
            </a:r>
          </a:p>
          <a:p>
            <a:pPr eaLnBrk="1" hangingPunct="1"/>
            <a:r>
              <a:rPr lang="en-US" altLang="en-US"/>
              <a:t>Copyright © 2009 by John Wiley &amp; Sons.  All rights reserved.</a:t>
            </a:r>
          </a:p>
        </p:txBody>
      </p:sp>
      <p:sp>
        <p:nvSpPr>
          <p:cNvPr id="90115" name="Rectangle 3"/>
          <p:cNvSpPr>
            <a:spLocks noChangeArrowheads="1"/>
          </p:cNvSpPr>
          <p:nvPr/>
        </p:nvSpPr>
        <p:spPr bwMode="auto">
          <a:xfrm>
            <a:off x="0" y="808038"/>
            <a:ext cx="9144000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236538" indent="-236538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>
              <a:buFontTx/>
              <a:buChar char="•"/>
            </a:pPr>
            <a:r>
              <a:rPr lang="en-US" altLang="en-US" sz="2400"/>
              <a:t>Describes a </a:t>
            </a:r>
            <a:r>
              <a:rPr lang="en-US" altLang="en-US" sz="2400" b="1">
                <a:solidFill>
                  <a:srgbClr val="0033CC"/>
                </a:solidFill>
              </a:rPr>
              <a:t>c</a:t>
            </a:r>
            <a:r>
              <a:rPr lang="en-US" altLang="en-US" sz="2400"/>
              <a:t>lass, its </a:t>
            </a:r>
            <a:r>
              <a:rPr lang="en-US" altLang="en-US" sz="2400" b="1">
                <a:solidFill>
                  <a:srgbClr val="0033CC"/>
                </a:solidFill>
              </a:rPr>
              <a:t>r</a:t>
            </a:r>
            <a:r>
              <a:rPr lang="en-US" altLang="en-US" sz="2400"/>
              <a:t>esponsibilities, and its </a:t>
            </a:r>
            <a:r>
              <a:rPr lang="en-US" altLang="en-US" sz="2400" b="1">
                <a:solidFill>
                  <a:srgbClr val="0033CC"/>
                </a:solidFill>
              </a:rPr>
              <a:t>c</a:t>
            </a:r>
            <a:r>
              <a:rPr lang="en-US" altLang="en-US" sz="2400"/>
              <a:t>ollaborators </a:t>
            </a:r>
          </a:p>
          <a:p>
            <a:pPr algn="l">
              <a:spcBef>
                <a:spcPct val="50000"/>
              </a:spcBef>
              <a:buFontTx/>
              <a:buChar char="•"/>
            </a:pPr>
            <a:r>
              <a:rPr lang="en-US" altLang="en-US" sz="2400"/>
              <a:t>Use an index card for each class </a:t>
            </a:r>
          </a:p>
          <a:p>
            <a:pPr algn="l">
              <a:spcBef>
                <a:spcPct val="50000"/>
              </a:spcBef>
              <a:buFontTx/>
              <a:buChar char="•"/>
            </a:pPr>
            <a:r>
              <a:rPr lang="en-US" altLang="en-US" sz="2400"/>
              <a:t>Pick the class that should be responsible for each method (verb) </a:t>
            </a:r>
          </a:p>
          <a:p>
            <a:pPr algn="l">
              <a:spcBef>
                <a:spcPct val="50000"/>
              </a:spcBef>
              <a:buFontTx/>
              <a:buChar char="•"/>
            </a:pPr>
            <a:r>
              <a:rPr lang="en-US" altLang="en-US" sz="2400"/>
              <a:t>Write the responsibility onto the class card </a:t>
            </a:r>
          </a:p>
        </p:txBody>
      </p:sp>
      <p:sp>
        <p:nvSpPr>
          <p:cNvPr id="22532" name="Text Box 5"/>
          <p:cNvSpPr txBox="1">
            <a:spLocks noChangeArrowheads="1"/>
          </p:cNvSpPr>
          <p:nvPr/>
        </p:nvSpPr>
        <p:spPr bwMode="auto">
          <a:xfrm>
            <a:off x="0" y="304800"/>
            <a:ext cx="701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/>
            <a:r>
              <a:rPr lang="en-US" altLang="en-US" sz="2400" b="1">
                <a:latin typeface="Lucida Sans" pitchFamily="34" charset="0"/>
              </a:rPr>
              <a:t>CRC Card</a:t>
            </a: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7239000" y="5957888"/>
            <a:ext cx="1600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b="1" i="1"/>
              <a:t>Continued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eaLnBrk="1" hangingPunct="1"/>
            <a:r>
              <a:rPr lang="en-US" altLang="en-US" i="1"/>
              <a:t>Big Java</a:t>
            </a:r>
            <a:r>
              <a:rPr lang="en-US" altLang="en-US"/>
              <a:t> by Cay Horstmann</a:t>
            </a:r>
          </a:p>
          <a:p>
            <a:pPr eaLnBrk="1" hangingPunct="1"/>
            <a:r>
              <a:rPr lang="en-US" altLang="en-US"/>
              <a:t>Copyright © 2009 by John Wiley &amp; Sons.  All rights reserved.</a:t>
            </a:r>
          </a:p>
        </p:txBody>
      </p:sp>
      <p:sp>
        <p:nvSpPr>
          <p:cNvPr id="23555" name="Text Box 5"/>
          <p:cNvSpPr txBox="1">
            <a:spLocks noChangeArrowheads="1"/>
          </p:cNvSpPr>
          <p:nvPr/>
        </p:nvSpPr>
        <p:spPr bwMode="auto">
          <a:xfrm>
            <a:off x="0" y="304800"/>
            <a:ext cx="701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/>
            <a:r>
              <a:rPr lang="en-US" altLang="en-US" sz="2400" b="1">
                <a:latin typeface="Lucida Sans" pitchFamily="34" charset="0"/>
              </a:rPr>
              <a:t>CRC Card</a:t>
            </a:r>
          </a:p>
        </p:txBody>
      </p:sp>
      <p:sp>
        <p:nvSpPr>
          <p:cNvPr id="23556" name="Rectangle 3"/>
          <p:cNvSpPr>
            <a:spLocks noChangeArrowheads="1"/>
          </p:cNvSpPr>
          <p:nvPr/>
        </p:nvSpPr>
        <p:spPr bwMode="auto">
          <a:xfrm>
            <a:off x="0" y="808038"/>
            <a:ext cx="91440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236538" indent="-236538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>
              <a:spcBef>
                <a:spcPct val="50000"/>
              </a:spcBef>
              <a:buFontTx/>
              <a:buChar char="•"/>
            </a:pPr>
            <a:r>
              <a:rPr lang="en-US" altLang="en-US" sz="2400"/>
              <a:t>Indicate what other classes are needed to fulfill responsibility (collaborators)</a:t>
            </a:r>
          </a:p>
        </p:txBody>
      </p:sp>
      <p:pic>
        <p:nvPicPr>
          <p:cNvPr id="23557" name="Picture 7" descr="crc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676400"/>
            <a:ext cx="8412163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eaLnBrk="1" hangingPunct="1"/>
            <a:r>
              <a:rPr lang="en-US" altLang="en-US" i="1"/>
              <a:t>Big Java</a:t>
            </a:r>
            <a:r>
              <a:rPr lang="en-US" altLang="en-US"/>
              <a:t> by Cay Horstmann</a:t>
            </a:r>
          </a:p>
          <a:p>
            <a:pPr eaLnBrk="1" hangingPunct="1"/>
            <a:r>
              <a:rPr lang="en-US" altLang="en-US"/>
              <a:t>Copyright © 2009 by John Wiley &amp; Sons.  All rights reserved.</a:t>
            </a:r>
          </a:p>
        </p:txBody>
      </p:sp>
      <p:sp>
        <p:nvSpPr>
          <p:cNvPr id="86019" name="Rectangle 3"/>
          <p:cNvSpPr>
            <a:spLocks noChangeArrowheads="1"/>
          </p:cNvSpPr>
          <p:nvPr/>
        </p:nvSpPr>
        <p:spPr bwMode="auto">
          <a:xfrm>
            <a:off x="0" y="914400"/>
            <a:ext cx="914400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36538" indent="-236538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400"/>
              <a:t>Inheritance </a:t>
            </a:r>
          </a:p>
          <a:p>
            <a:pPr algn="l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400"/>
              <a:t>Aggregation </a:t>
            </a:r>
          </a:p>
          <a:p>
            <a:pPr algn="l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400"/>
              <a:t>Dependency </a:t>
            </a:r>
          </a:p>
        </p:txBody>
      </p:sp>
      <p:sp>
        <p:nvSpPr>
          <p:cNvPr id="27652" name="Text Box 4"/>
          <p:cNvSpPr txBox="1">
            <a:spLocks noChangeArrowheads="1"/>
          </p:cNvSpPr>
          <p:nvPr/>
        </p:nvSpPr>
        <p:spPr bwMode="auto">
          <a:xfrm>
            <a:off x="0" y="304800"/>
            <a:ext cx="701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/>
            <a:r>
              <a:rPr lang="en-US" altLang="en-US" sz="2400" b="1">
                <a:latin typeface="Lucida Sans" pitchFamily="34" charset="0"/>
              </a:rPr>
              <a:t>Relationships Between Classes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eaLnBrk="1" hangingPunct="1"/>
            <a:r>
              <a:rPr lang="en-US" altLang="en-US" i="1"/>
              <a:t>Big Java</a:t>
            </a:r>
            <a:r>
              <a:rPr lang="en-US" altLang="en-US"/>
              <a:t> by Cay Horstmann</a:t>
            </a:r>
          </a:p>
          <a:p>
            <a:pPr eaLnBrk="1" hangingPunct="1"/>
            <a:r>
              <a:rPr lang="en-US" altLang="en-US"/>
              <a:t>Copyright © 2009 by John Wiley &amp; Sons.  All rights reserved.</a:t>
            </a:r>
          </a:p>
        </p:txBody>
      </p:sp>
      <p:sp>
        <p:nvSpPr>
          <p:cNvPr id="84995" name="Rectangle 3"/>
          <p:cNvSpPr>
            <a:spLocks noChangeArrowheads="1"/>
          </p:cNvSpPr>
          <p:nvPr/>
        </p:nvSpPr>
        <p:spPr bwMode="auto">
          <a:xfrm>
            <a:off x="0" y="914400"/>
            <a:ext cx="9144000" cy="3878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236538" indent="-236538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693738" indent="-236538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50938" indent="-236538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>
              <a:spcBef>
                <a:spcPts val="1200"/>
              </a:spcBef>
              <a:buFontTx/>
              <a:buChar char="•"/>
            </a:pPr>
            <a:r>
              <a:rPr lang="en-US" altLang="en-US" sz="2400" i="1"/>
              <a:t>Is-a</a:t>
            </a:r>
            <a:r>
              <a:rPr lang="en-US" altLang="en-US" sz="2400"/>
              <a:t> relationship </a:t>
            </a:r>
          </a:p>
          <a:p>
            <a:pPr algn="l" eaLnBrk="1" hangingPunct="1">
              <a:spcBef>
                <a:spcPts val="1200"/>
              </a:spcBef>
              <a:buFontTx/>
              <a:buChar char="•"/>
            </a:pPr>
            <a:r>
              <a:rPr lang="en-US" altLang="en-US" sz="2400"/>
              <a:t>Relationship between a more general class (superclass) and a more specialized class (subclass) </a:t>
            </a:r>
          </a:p>
          <a:p>
            <a:pPr algn="l" eaLnBrk="1" hangingPunct="1">
              <a:spcBef>
                <a:spcPts val="1200"/>
              </a:spcBef>
              <a:buFontTx/>
              <a:buChar char="•"/>
            </a:pPr>
            <a:r>
              <a:rPr lang="en-US" altLang="en-US" sz="2400"/>
              <a:t>Every savings account is a bank account </a:t>
            </a:r>
          </a:p>
          <a:p>
            <a:pPr algn="l" eaLnBrk="1" hangingPunct="1">
              <a:spcBef>
                <a:spcPts val="1200"/>
              </a:spcBef>
              <a:buFontTx/>
              <a:buChar char="•"/>
            </a:pPr>
            <a:r>
              <a:rPr lang="en-US" altLang="en-US" sz="2400"/>
              <a:t>Every circle is an ellipse (with equal width and height) </a:t>
            </a:r>
          </a:p>
          <a:p>
            <a:pPr algn="l" eaLnBrk="1" hangingPunct="1">
              <a:spcBef>
                <a:spcPts val="1200"/>
              </a:spcBef>
              <a:buFontTx/>
              <a:buChar char="•"/>
            </a:pPr>
            <a:r>
              <a:rPr lang="en-US" altLang="en-US" sz="2400"/>
              <a:t>It is sometimes abused </a:t>
            </a:r>
          </a:p>
          <a:p>
            <a:pPr lvl="1" algn="l" eaLnBrk="1" hangingPunct="1">
              <a:spcBef>
                <a:spcPts val="1200"/>
              </a:spcBef>
              <a:buFontTx/>
              <a:buChar char="•"/>
            </a:pPr>
            <a:r>
              <a:rPr lang="en-US" altLang="en-US" sz="2000" i="1"/>
              <a:t>Should the class </a:t>
            </a:r>
            <a:r>
              <a:rPr lang="en-US" altLang="en-US" sz="2000" i="1">
                <a:solidFill>
                  <a:srgbClr val="6E7069"/>
                </a:solidFill>
                <a:latin typeface="Courier New" pitchFamily="49" charset="0"/>
              </a:rPr>
              <a:t>Tire</a:t>
            </a:r>
            <a:r>
              <a:rPr lang="en-US" altLang="en-US" sz="2000" i="1">
                <a:solidFill>
                  <a:srgbClr val="6E7069"/>
                </a:solidFill>
              </a:rPr>
              <a:t> </a:t>
            </a:r>
            <a:r>
              <a:rPr lang="en-US" altLang="en-US" sz="2000" i="1"/>
              <a:t>be a subclass of a class </a:t>
            </a:r>
            <a:r>
              <a:rPr lang="en-US" altLang="en-US" sz="2000" i="1">
                <a:solidFill>
                  <a:srgbClr val="6E7069"/>
                </a:solidFill>
                <a:latin typeface="Courier New" pitchFamily="49" charset="0"/>
              </a:rPr>
              <a:t>Circle</a:t>
            </a:r>
            <a:r>
              <a:rPr lang="en-US" altLang="en-US" sz="2000" i="1"/>
              <a:t>?</a:t>
            </a:r>
            <a:r>
              <a:rPr lang="en-US" altLang="en-US" sz="2400" i="1"/>
              <a:t> </a:t>
            </a:r>
          </a:p>
          <a:p>
            <a:pPr lvl="2" algn="l" eaLnBrk="1" hangingPunct="1">
              <a:spcBef>
                <a:spcPts val="1200"/>
              </a:spcBef>
              <a:buSzPct val="75000"/>
              <a:buFontTx/>
              <a:buChar char="o"/>
            </a:pPr>
            <a:r>
              <a:rPr lang="en-US" altLang="en-US" i="1"/>
              <a:t>The has-a relationship would be more appropriate </a:t>
            </a:r>
          </a:p>
        </p:txBody>
      </p:sp>
      <p:sp>
        <p:nvSpPr>
          <p:cNvPr id="28676" name="Text Box 4"/>
          <p:cNvSpPr txBox="1">
            <a:spLocks noChangeArrowheads="1"/>
          </p:cNvSpPr>
          <p:nvPr/>
        </p:nvSpPr>
        <p:spPr bwMode="auto">
          <a:xfrm>
            <a:off x="0" y="304800"/>
            <a:ext cx="701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/>
            <a:r>
              <a:rPr lang="en-US" altLang="en-US" sz="2400" b="1">
                <a:latin typeface="Lucida Sans" pitchFamily="34" charset="0"/>
              </a:rPr>
              <a:t>Inheritance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eaLnBrk="1" hangingPunct="1"/>
            <a:r>
              <a:rPr lang="en-US" altLang="en-US" i="1"/>
              <a:t>Big Java</a:t>
            </a:r>
            <a:r>
              <a:rPr lang="en-US" altLang="en-US"/>
              <a:t> by Cay Horstmann</a:t>
            </a:r>
          </a:p>
          <a:p>
            <a:pPr eaLnBrk="1" hangingPunct="1"/>
            <a:r>
              <a:rPr lang="en-US" altLang="en-US"/>
              <a:t>Copyright © 2009 by John Wiley &amp; Sons.  All rights reserved.</a:t>
            </a:r>
          </a:p>
        </p:txBody>
      </p:sp>
      <p:sp>
        <p:nvSpPr>
          <p:cNvPr id="83971" name="Rectangle 3"/>
          <p:cNvSpPr>
            <a:spLocks noChangeArrowheads="1"/>
          </p:cNvSpPr>
          <p:nvPr/>
        </p:nvSpPr>
        <p:spPr bwMode="auto">
          <a:xfrm>
            <a:off x="0" y="914400"/>
            <a:ext cx="9144000" cy="4986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36538" indent="-236538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693738" indent="-236538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>
              <a:spcBef>
                <a:spcPts val="1200"/>
              </a:spcBef>
              <a:buFontTx/>
              <a:buChar char="•"/>
            </a:pPr>
            <a:r>
              <a:rPr lang="en-US" altLang="en-US" sz="2400" i="1"/>
              <a:t>Has-a</a:t>
            </a:r>
            <a:r>
              <a:rPr lang="en-US" altLang="en-US" sz="2400"/>
              <a:t> relationship </a:t>
            </a:r>
          </a:p>
          <a:p>
            <a:pPr algn="l" eaLnBrk="1" hangingPunct="1">
              <a:spcBef>
                <a:spcPts val="1200"/>
              </a:spcBef>
              <a:buFontTx/>
              <a:buChar char="•"/>
            </a:pPr>
            <a:r>
              <a:rPr lang="en-US" altLang="en-US" sz="2400"/>
              <a:t>Objects of one class contain references to objects of another class </a:t>
            </a:r>
          </a:p>
          <a:p>
            <a:pPr algn="l" eaLnBrk="1" hangingPunct="1">
              <a:spcBef>
                <a:spcPts val="1200"/>
              </a:spcBef>
              <a:buFontTx/>
              <a:buChar char="•"/>
            </a:pPr>
            <a:r>
              <a:rPr lang="en-US" altLang="en-US" sz="2400"/>
              <a:t>Use an instance variable </a:t>
            </a:r>
          </a:p>
          <a:p>
            <a:pPr lvl="1" algn="l" eaLnBrk="1" hangingPunct="1">
              <a:spcBef>
                <a:spcPts val="1200"/>
              </a:spcBef>
              <a:buFontTx/>
              <a:buChar char="•"/>
            </a:pPr>
            <a:r>
              <a:rPr lang="en-US" altLang="en-US" sz="2000" i="1"/>
              <a:t>A tire has a circle as its boundary:</a:t>
            </a:r>
            <a:r>
              <a:rPr lang="en-US" altLang="en-US" sz="2400" i="1"/>
              <a:t> </a:t>
            </a:r>
          </a:p>
          <a:p>
            <a:pPr lvl="1" algn="l" eaLnBrk="1" hangingPunct="1">
              <a:spcBef>
                <a:spcPts val="1200"/>
              </a:spcBef>
            </a:pPr>
            <a:r>
              <a:rPr lang="en-US" altLang="en-US" sz="2400">
                <a:latin typeface="Courier New" pitchFamily="49" charset="0"/>
              </a:rPr>
              <a:t>	</a:t>
            </a:r>
            <a: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  <a:t>class Tire </a:t>
            </a:r>
            <a:b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</a:br>
            <a: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  <a:t>{ </a:t>
            </a:r>
            <a:b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</a:br>
            <a: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  <a:t>   ... </a:t>
            </a:r>
            <a:b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</a:br>
            <a: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  <a:t>   private String rating; </a:t>
            </a:r>
            <a:b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</a:br>
            <a: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  <a:t>   private Circle boundary; </a:t>
            </a:r>
            <a:b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</a:br>
            <a: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  <a:t>}</a:t>
            </a:r>
          </a:p>
          <a:p>
            <a:pPr algn="l" eaLnBrk="1" hangingPunct="1">
              <a:spcBef>
                <a:spcPts val="1200"/>
              </a:spcBef>
              <a:buFontTx/>
              <a:buChar char="•"/>
            </a:pPr>
            <a:r>
              <a:rPr lang="en-US" altLang="en-US" sz="2400"/>
              <a:t>Every car has a tire (in fact, it has four) </a:t>
            </a:r>
          </a:p>
        </p:txBody>
      </p:sp>
      <p:sp>
        <p:nvSpPr>
          <p:cNvPr id="29700" name="Text Box 4"/>
          <p:cNvSpPr txBox="1">
            <a:spLocks noChangeArrowheads="1"/>
          </p:cNvSpPr>
          <p:nvPr/>
        </p:nvSpPr>
        <p:spPr bwMode="auto">
          <a:xfrm>
            <a:off x="0" y="304800"/>
            <a:ext cx="701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/>
            <a:r>
              <a:rPr lang="en-US" altLang="en-US" sz="2400" b="1">
                <a:latin typeface="Lucida Sans" pitchFamily="34" charset="0"/>
              </a:rPr>
              <a:t>Aggregation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eaLnBrk="1" hangingPunct="1"/>
            <a:r>
              <a:rPr lang="en-US" altLang="en-US" i="1"/>
              <a:t>Big Java</a:t>
            </a:r>
            <a:r>
              <a:rPr lang="en-US" altLang="en-US"/>
              <a:t> by Cay Horstmann</a:t>
            </a:r>
          </a:p>
          <a:p>
            <a:pPr eaLnBrk="1" hangingPunct="1"/>
            <a:r>
              <a:rPr lang="en-US" altLang="en-US"/>
              <a:t>Copyright © 2009 by John Wiley &amp; Sons.  All rights reserved.</a:t>
            </a:r>
          </a:p>
        </p:txBody>
      </p:sp>
      <p:sp>
        <p:nvSpPr>
          <p:cNvPr id="30723" name="Text Box 5"/>
          <p:cNvSpPr txBox="1">
            <a:spLocks noChangeArrowheads="1"/>
          </p:cNvSpPr>
          <p:nvPr/>
        </p:nvSpPr>
        <p:spPr bwMode="auto">
          <a:xfrm>
            <a:off x="0" y="304800"/>
            <a:ext cx="701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/>
            <a:r>
              <a:rPr lang="en-US" altLang="en-US" sz="2400" b="1">
                <a:latin typeface="Lucida Sans" pitchFamily="34" charset="0"/>
              </a:rPr>
              <a:t>Example</a:t>
            </a:r>
          </a:p>
        </p:txBody>
      </p:sp>
      <p:sp>
        <p:nvSpPr>
          <p:cNvPr id="30724" name="Text Box 8"/>
          <p:cNvSpPr txBox="1">
            <a:spLocks noChangeArrowheads="1"/>
          </p:cNvSpPr>
          <p:nvPr/>
        </p:nvSpPr>
        <p:spPr bwMode="auto">
          <a:xfrm>
            <a:off x="0" y="914400"/>
            <a:ext cx="4724400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  <a:t>class Car extends Vehicle </a:t>
            </a:r>
            <a:b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</a:br>
            <a: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  <a:t>{ </a:t>
            </a:r>
            <a:b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</a:br>
            <a: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  <a:t>   ... </a:t>
            </a:r>
            <a:b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</a:br>
            <a: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  <a:t>   private Tire[] tires; </a:t>
            </a:r>
            <a:b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</a:br>
            <a: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  <a:t>}</a:t>
            </a:r>
          </a:p>
        </p:txBody>
      </p:sp>
      <p:pic>
        <p:nvPicPr>
          <p:cNvPr id="30725" name="Picture 6" descr="uml_exampl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667000"/>
            <a:ext cx="3886200" cy="3976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eaLnBrk="1" hangingPunct="1"/>
            <a:r>
              <a:rPr lang="en-US" altLang="en-US" i="1"/>
              <a:t>Big Java</a:t>
            </a:r>
            <a:r>
              <a:rPr lang="en-US" altLang="en-US"/>
              <a:t> by Cay Horstmann</a:t>
            </a:r>
          </a:p>
          <a:p>
            <a:pPr eaLnBrk="1" hangingPunct="1"/>
            <a:r>
              <a:rPr lang="en-US" altLang="en-US"/>
              <a:t>Copyright © 2009 by John Wiley &amp; Sons.  All rights reserved.</a:t>
            </a:r>
          </a:p>
        </p:txBody>
      </p:sp>
      <p:sp>
        <p:nvSpPr>
          <p:cNvPr id="81923" name="Rectangle 3"/>
          <p:cNvSpPr>
            <a:spLocks noChangeArrowheads="1"/>
          </p:cNvSpPr>
          <p:nvPr/>
        </p:nvSpPr>
        <p:spPr bwMode="auto">
          <a:xfrm>
            <a:off x="0" y="914400"/>
            <a:ext cx="9144000" cy="286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236538" indent="-236538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400" i="1"/>
              <a:t>Uses</a:t>
            </a:r>
            <a:r>
              <a:rPr lang="en-US" altLang="en-US" sz="2400"/>
              <a:t> relationship </a:t>
            </a:r>
          </a:p>
          <a:p>
            <a:pPr algn="l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400"/>
              <a:t>Example: Many of our applications depend on the </a:t>
            </a:r>
            <a:r>
              <a:rPr lang="en-US" altLang="en-US" sz="2400">
                <a:solidFill>
                  <a:srgbClr val="6E7069"/>
                </a:solidFill>
                <a:latin typeface="Courier New" pitchFamily="49" charset="0"/>
              </a:rPr>
              <a:t>Scanner</a:t>
            </a:r>
            <a:r>
              <a:rPr lang="en-US" altLang="en-US" sz="2400">
                <a:solidFill>
                  <a:srgbClr val="6E7069"/>
                </a:solidFill>
              </a:rPr>
              <a:t> </a:t>
            </a:r>
            <a:r>
              <a:rPr lang="en-US" altLang="en-US" sz="2400"/>
              <a:t>class to read input </a:t>
            </a:r>
          </a:p>
          <a:p>
            <a:pPr algn="l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400"/>
              <a:t>Aggregation is a stronger form of dependency </a:t>
            </a:r>
          </a:p>
          <a:p>
            <a:pPr algn="l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400"/>
              <a:t>Use aggregation to remember another object between method calls </a:t>
            </a:r>
          </a:p>
        </p:txBody>
      </p:sp>
      <p:sp>
        <p:nvSpPr>
          <p:cNvPr id="31748" name="Text Box 4"/>
          <p:cNvSpPr txBox="1">
            <a:spLocks noChangeArrowheads="1"/>
          </p:cNvSpPr>
          <p:nvPr/>
        </p:nvSpPr>
        <p:spPr bwMode="auto">
          <a:xfrm>
            <a:off x="0" y="304800"/>
            <a:ext cx="701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/>
            <a:r>
              <a:rPr lang="en-US" altLang="en-US" sz="2400" b="1">
                <a:latin typeface="Lucida Sans" pitchFamily="34" charset="0"/>
              </a:rPr>
              <a:t>Dependency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0" descr="uml_aggreg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1650" y="2332038"/>
            <a:ext cx="16922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1" name="Picture 25" descr="uml_dependenc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1650" y="2687638"/>
            <a:ext cx="16922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2" name="Picture 15" descr="uml_interfac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6888" y="1957388"/>
            <a:ext cx="16922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3" name="Picture 10" descr="uml_inheritanc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1650" y="1595438"/>
            <a:ext cx="1692275" cy="404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4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eaLnBrk="1" hangingPunct="1"/>
            <a:r>
              <a:rPr lang="en-US" altLang="en-US" i="1"/>
              <a:t>Big Java</a:t>
            </a:r>
            <a:r>
              <a:rPr lang="en-US" altLang="en-US"/>
              <a:t> by Cay Horstmann</a:t>
            </a:r>
          </a:p>
          <a:p>
            <a:pPr eaLnBrk="1" hangingPunct="1"/>
            <a:r>
              <a:rPr lang="en-US" altLang="en-US"/>
              <a:t>Copyright © 2009 by John Wiley &amp; Sons.  All rights reserved.</a:t>
            </a:r>
          </a:p>
        </p:txBody>
      </p:sp>
      <p:graphicFrame>
        <p:nvGraphicFramePr>
          <p:cNvPr id="81031" name="Group 135"/>
          <p:cNvGraphicFramePr>
            <a:graphicFrameLocks noGrp="1"/>
          </p:cNvGraphicFramePr>
          <p:nvPr/>
        </p:nvGraphicFramePr>
        <p:xfrm>
          <a:off x="76200" y="1219200"/>
          <a:ext cx="7415213" cy="1828800"/>
        </p:xfrm>
        <a:graphic>
          <a:graphicData uri="http://schemas.openxmlformats.org/drawingml/2006/table">
            <a:tbl>
              <a:tblPr/>
              <a:tblGrid>
                <a:gridCol w="2962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2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7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31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86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07" charset="-128"/>
                        </a:rPr>
                        <a:t>Relationship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-107" charset="-128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07" charset="-128"/>
                        </a:rPr>
                        <a:t>Symbol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-107" charset="-128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07" charset="-128"/>
                        </a:rPr>
                        <a:t>Line Style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-107" charset="-128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07" charset="-128"/>
                        </a:rPr>
                        <a:t>Arrow Tip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-107" charset="-128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6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07" charset="-128"/>
                        </a:rPr>
                        <a:t>Inheritance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-107" charset="-128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07" charset="-128"/>
                        </a:rPr>
                        <a:t>Solid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07" charset="-128"/>
                        </a:rPr>
                        <a:t>Triangle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6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07" charset="-128"/>
                        </a:rPr>
                        <a:t>Interface Implementation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-107" charset="-128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07" charset="-128"/>
                        </a:rPr>
                        <a:t>Dotted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07" charset="-128"/>
                        </a:rPr>
                        <a:t>Triangle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8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07" charset="-128"/>
                        </a:rPr>
                        <a:t>Aggregation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-107" charset="-128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07" charset="-128"/>
                        </a:rPr>
                        <a:t>Solid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07" charset="-128"/>
                        </a:rPr>
                        <a:t>Diamond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86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07" charset="-128"/>
                        </a:rPr>
                        <a:t>Dependency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-107" charset="-128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07" charset="-128"/>
                        </a:rPr>
                        <a:t>Dotted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07" charset="-128"/>
                        </a:rPr>
                        <a:t>Open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2807" name="Rectangle 3"/>
          <p:cNvSpPr>
            <a:spLocks noChangeArrowheads="1"/>
          </p:cNvSpPr>
          <p:nvPr/>
        </p:nvSpPr>
        <p:spPr bwMode="auto">
          <a:xfrm>
            <a:off x="476250" y="1544638"/>
            <a:ext cx="1841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/>
            <a:endParaRPr lang="en-US" altLang="en-US" sz="2200" b="1"/>
          </a:p>
          <a:p>
            <a:pPr algn="l"/>
            <a:endParaRPr lang="en-US" altLang="en-US"/>
          </a:p>
        </p:txBody>
      </p:sp>
      <p:sp>
        <p:nvSpPr>
          <p:cNvPr id="32808" name="Text Box 136"/>
          <p:cNvSpPr txBox="1">
            <a:spLocks noChangeArrowheads="1"/>
          </p:cNvSpPr>
          <p:nvPr/>
        </p:nvSpPr>
        <p:spPr bwMode="auto">
          <a:xfrm>
            <a:off x="0" y="304800"/>
            <a:ext cx="701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/>
            <a:r>
              <a:rPr lang="en-US" altLang="en-US" sz="2400" b="1">
                <a:latin typeface="Lucida Sans" pitchFamily="34" charset="0"/>
              </a:rPr>
              <a:t>UML Relationship Symbols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eaLnBrk="1" hangingPunct="1"/>
            <a:r>
              <a:rPr lang="en-US" altLang="en-US" i="1"/>
              <a:t>Big Java</a:t>
            </a:r>
            <a:r>
              <a:rPr lang="en-US" altLang="en-US"/>
              <a:t> by Cay Horstmann</a:t>
            </a:r>
          </a:p>
          <a:p>
            <a:pPr eaLnBrk="1" hangingPunct="1"/>
            <a:r>
              <a:rPr lang="en-US" altLang="en-US"/>
              <a:t>Copyright © 2009 by John Wiley &amp; Sons.  All rights reserved.</a:t>
            </a:r>
          </a:p>
        </p:txBody>
      </p:sp>
      <p:sp>
        <p:nvSpPr>
          <p:cNvPr id="36867" name="Rectangle 3"/>
          <p:cNvSpPr>
            <a:spLocks noChangeArrowheads="1"/>
          </p:cNvSpPr>
          <p:nvPr/>
        </p:nvSpPr>
        <p:spPr bwMode="auto">
          <a:xfrm>
            <a:off x="566738" y="2305050"/>
            <a:ext cx="53086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/>
            <a:endParaRPr lang="en-US" altLang="en-US" sz="2200" b="1"/>
          </a:p>
          <a:p>
            <a:pPr algn="l"/>
            <a:r>
              <a:rPr lang="en-US" altLang="en-US" sz="1100"/>
              <a:t>  </a:t>
            </a:r>
            <a:r>
              <a:rPr lang="en-US" altLang="en-US" sz="11700"/>
              <a:t> </a:t>
            </a:r>
            <a:r>
              <a:rPr lang="en-US" altLang="en-US" sz="1100"/>
              <a:t>                                                                                                                        </a:t>
            </a:r>
            <a:r>
              <a:rPr lang="en-US" altLang="en-US"/>
              <a:t> </a:t>
            </a:r>
          </a:p>
        </p:txBody>
      </p:sp>
      <p:sp>
        <p:nvSpPr>
          <p:cNvPr id="36868" name="Text Box 5"/>
          <p:cNvSpPr txBox="1">
            <a:spLocks noChangeArrowheads="1"/>
          </p:cNvSpPr>
          <p:nvPr/>
        </p:nvSpPr>
        <p:spPr bwMode="auto">
          <a:xfrm>
            <a:off x="0" y="304800"/>
            <a:ext cx="891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/>
            <a:r>
              <a:rPr lang="en-US" altLang="en-US" sz="2400" b="1">
                <a:latin typeface="Lucida Sans" pitchFamily="34" charset="0"/>
              </a:rPr>
              <a:t>Attributes and Methods in UML Diagrams</a:t>
            </a:r>
          </a:p>
        </p:txBody>
      </p:sp>
      <p:pic>
        <p:nvPicPr>
          <p:cNvPr id="36869" name="Picture 6" descr="uml_attributes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914400"/>
            <a:ext cx="6781800" cy="324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eaLnBrk="1" hangingPunct="1"/>
            <a:r>
              <a:rPr lang="en-US" altLang="en-US" i="1"/>
              <a:t>Big Java</a:t>
            </a:r>
            <a:r>
              <a:rPr lang="en-US" altLang="en-US"/>
              <a:t> by Cay Horstmann</a:t>
            </a:r>
          </a:p>
          <a:p>
            <a:pPr eaLnBrk="1" hangingPunct="1"/>
            <a:r>
              <a:rPr lang="en-US" altLang="en-US"/>
              <a:t>Copyright © 2009 by John Wiley &amp; Sons.  All rights reserved.</a:t>
            </a:r>
          </a:p>
        </p:txBody>
      </p:sp>
      <p:sp>
        <p:nvSpPr>
          <p:cNvPr id="54276" name="Rectangle 3"/>
          <p:cNvSpPr>
            <a:spLocks noChangeArrowheads="1"/>
          </p:cNvSpPr>
          <p:nvPr/>
        </p:nvSpPr>
        <p:spPr bwMode="auto">
          <a:xfrm>
            <a:off x="0" y="914400"/>
            <a:ext cx="9144000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236538" indent="-236538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>
              <a:spcBef>
                <a:spcPts val="1200"/>
              </a:spcBef>
              <a:buFontTx/>
              <a:buChar char="•"/>
            </a:pPr>
            <a:r>
              <a:rPr lang="en-US" altLang="en-US" sz="2400"/>
              <a:t>any number (zero or more): * </a:t>
            </a:r>
          </a:p>
          <a:p>
            <a:pPr algn="l">
              <a:spcBef>
                <a:spcPts val="1200"/>
              </a:spcBef>
              <a:buFontTx/>
              <a:buChar char="•"/>
            </a:pPr>
            <a:r>
              <a:rPr lang="en-US" altLang="en-US" sz="2400"/>
              <a:t>one or more: 1..* </a:t>
            </a:r>
          </a:p>
          <a:p>
            <a:pPr algn="l">
              <a:spcBef>
                <a:spcPts val="1200"/>
              </a:spcBef>
              <a:buFontTx/>
              <a:buChar char="•"/>
            </a:pPr>
            <a:r>
              <a:rPr lang="en-US" altLang="en-US" sz="2400"/>
              <a:t>zero or one: 0..1 </a:t>
            </a:r>
          </a:p>
          <a:p>
            <a:pPr algn="l">
              <a:spcBef>
                <a:spcPts val="1200"/>
              </a:spcBef>
              <a:buFontTx/>
              <a:buChar char="•"/>
            </a:pPr>
            <a:r>
              <a:rPr lang="en-US" altLang="en-US" sz="2400"/>
              <a:t>exactly one: 1</a:t>
            </a:r>
          </a:p>
        </p:txBody>
      </p:sp>
      <p:sp>
        <p:nvSpPr>
          <p:cNvPr id="37892" name="Text Box 5"/>
          <p:cNvSpPr txBox="1">
            <a:spLocks noChangeArrowheads="1"/>
          </p:cNvSpPr>
          <p:nvPr/>
        </p:nvSpPr>
        <p:spPr bwMode="auto">
          <a:xfrm>
            <a:off x="0" y="304800"/>
            <a:ext cx="701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/>
            <a:r>
              <a:rPr lang="en-US" altLang="en-US" sz="2400" b="1">
                <a:latin typeface="Lucida Sans" pitchFamily="34" charset="0"/>
              </a:rPr>
              <a:t>Multiplicities</a:t>
            </a:r>
          </a:p>
        </p:txBody>
      </p:sp>
      <p:pic>
        <p:nvPicPr>
          <p:cNvPr id="54278" name="Picture 6" descr="uml_multipliciti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124200"/>
            <a:ext cx="9144000" cy="248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6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eaLnBrk="1" hangingPunct="1"/>
            <a:r>
              <a:rPr lang="en-US" altLang="en-US" i="1"/>
              <a:t>Big Java</a:t>
            </a:r>
            <a:r>
              <a:rPr lang="en-US" altLang="en-US"/>
              <a:t> by Cay Horstmann</a:t>
            </a:r>
          </a:p>
          <a:p>
            <a:pPr eaLnBrk="1" hangingPunct="1"/>
            <a:r>
              <a:rPr lang="en-US" altLang="en-US"/>
              <a:t>Copyright © 2009 by John Wiley &amp; Sons.  All rights reserved.</a:t>
            </a:r>
          </a:p>
        </p:txBody>
      </p:sp>
      <p:sp>
        <p:nvSpPr>
          <p:cNvPr id="56324" name="Rectangle 3"/>
          <p:cNvSpPr>
            <a:spLocks noChangeArrowheads="1"/>
          </p:cNvSpPr>
          <p:nvPr/>
        </p:nvSpPr>
        <p:spPr bwMode="auto">
          <a:xfrm>
            <a:off x="0" y="931863"/>
            <a:ext cx="914400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>
              <a:spcBef>
                <a:spcPct val="50000"/>
              </a:spcBef>
              <a:buFontTx/>
              <a:buAutoNum type="arabicPeriod"/>
            </a:pPr>
            <a:r>
              <a:rPr lang="en-US" altLang="en-US" sz="2400"/>
              <a:t>Gather requirements </a:t>
            </a:r>
          </a:p>
          <a:p>
            <a:pPr algn="l" eaLnBrk="1" hangingPunct="1">
              <a:spcBef>
                <a:spcPct val="50000"/>
              </a:spcBef>
              <a:buFontTx/>
              <a:buAutoNum type="arabicPeriod"/>
            </a:pPr>
            <a:r>
              <a:rPr lang="en-US" altLang="en-US" sz="2400"/>
              <a:t>Use CRC cards to find classes, responsibilities, and collaborators </a:t>
            </a:r>
          </a:p>
          <a:p>
            <a:pPr algn="l" eaLnBrk="1" hangingPunct="1">
              <a:spcBef>
                <a:spcPct val="50000"/>
              </a:spcBef>
              <a:buFontTx/>
              <a:buAutoNum type="arabicPeriod"/>
            </a:pPr>
            <a:r>
              <a:rPr lang="en-US" altLang="en-US" sz="2400"/>
              <a:t>Use UML diagrams to record class relationships </a:t>
            </a:r>
          </a:p>
          <a:p>
            <a:pPr algn="l" eaLnBrk="1" hangingPunct="1">
              <a:spcBef>
                <a:spcPct val="50000"/>
              </a:spcBef>
              <a:buFontTx/>
              <a:buAutoNum type="arabicPeriod"/>
            </a:pPr>
            <a:r>
              <a:rPr lang="en-US" altLang="en-US" sz="2400"/>
              <a:t>Use </a:t>
            </a:r>
            <a:r>
              <a:rPr lang="en-US" altLang="en-US" sz="2400">
                <a:solidFill>
                  <a:srgbClr val="6E7069"/>
                </a:solidFill>
                <a:latin typeface="Courier New" pitchFamily="49" charset="0"/>
              </a:rPr>
              <a:t>javadoc</a:t>
            </a:r>
            <a:r>
              <a:rPr lang="en-US" altLang="en-US" sz="2400">
                <a:solidFill>
                  <a:srgbClr val="6E7069"/>
                </a:solidFill>
              </a:rPr>
              <a:t> </a:t>
            </a:r>
            <a:r>
              <a:rPr lang="en-US" altLang="en-US" sz="2400"/>
              <a:t>to document method behavior </a:t>
            </a:r>
          </a:p>
          <a:p>
            <a:pPr algn="l" eaLnBrk="1" hangingPunct="1">
              <a:spcBef>
                <a:spcPct val="50000"/>
              </a:spcBef>
              <a:buFontTx/>
              <a:buAutoNum type="arabicPeriod"/>
            </a:pPr>
            <a:r>
              <a:rPr lang="en-US" altLang="en-US" sz="2400"/>
              <a:t>Implement your program </a:t>
            </a:r>
          </a:p>
        </p:txBody>
      </p:sp>
      <p:sp>
        <p:nvSpPr>
          <p:cNvPr id="38916" name="Text Box 4"/>
          <p:cNvSpPr txBox="1">
            <a:spLocks noChangeArrowheads="1"/>
          </p:cNvSpPr>
          <p:nvPr/>
        </p:nvSpPr>
        <p:spPr bwMode="auto">
          <a:xfrm>
            <a:off x="0" y="304800"/>
            <a:ext cx="701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/>
            <a:r>
              <a:rPr lang="en-US" altLang="en-US" sz="2400" b="1">
                <a:latin typeface="Lucida Sans" pitchFamily="34" charset="0"/>
              </a:rPr>
              <a:t>Five-Part Development Process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4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eaLnBrk="1" hangingPunct="1"/>
            <a:r>
              <a:rPr lang="en-US" altLang="en-US" i="1"/>
              <a:t>Big Java</a:t>
            </a:r>
            <a:r>
              <a:rPr lang="en-US" altLang="en-US"/>
              <a:t> by Cay Horstmann</a:t>
            </a:r>
          </a:p>
          <a:p>
            <a:pPr eaLnBrk="1" hangingPunct="1"/>
            <a:r>
              <a:rPr lang="en-US" altLang="en-US"/>
              <a:t>Copyright © 2009 by John Wiley &amp; Sons.  All rights reserved.</a:t>
            </a:r>
          </a:p>
        </p:txBody>
      </p:sp>
      <p:sp>
        <p:nvSpPr>
          <p:cNvPr id="57348" name="Rectangle 3"/>
          <p:cNvSpPr>
            <a:spLocks noChangeArrowheads="1"/>
          </p:cNvSpPr>
          <p:nvPr/>
        </p:nvSpPr>
        <p:spPr bwMode="auto">
          <a:xfrm>
            <a:off x="0" y="914400"/>
            <a:ext cx="9144000" cy="541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36538" indent="-236538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693738" indent="-236538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>
              <a:spcBef>
                <a:spcPts val="1200"/>
              </a:spcBef>
              <a:buFontTx/>
              <a:buChar char="•"/>
            </a:pPr>
            <a:r>
              <a:rPr lang="en-US" altLang="en-US" sz="2400"/>
              <a:t>Task: Print out an invoice </a:t>
            </a:r>
          </a:p>
          <a:p>
            <a:pPr algn="l" eaLnBrk="1" hangingPunct="1">
              <a:spcBef>
                <a:spcPts val="1200"/>
              </a:spcBef>
              <a:buFontTx/>
              <a:buChar char="•"/>
            </a:pPr>
            <a:r>
              <a:rPr lang="en-US" altLang="en-US" sz="2400"/>
              <a:t>Invoice: Describes the charges for a set of products in certain quantities </a:t>
            </a:r>
          </a:p>
          <a:p>
            <a:pPr algn="l" eaLnBrk="1" hangingPunct="1">
              <a:spcBef>
                <a:spcPts val="1200"/>
              </a:spcBef>
              <a:buFontTx/>
              <a:buChar char="•"/>
            </a:pPr>
            <a:r>
              <a:rPr lang="en-US" altLang="en-US" sz="2400"/>
              <a:t>Omit complexities </a:t>
            </a:r>
          </a:p>
          <a:p>
            <a:pPr lvl="1" algn="l" eaLnBrk="1" hangingPunct="1">
              <a:spcBef>
                <a:spcPts val="1200"/>
              </a:spcBef>
              <a:buFontTx/>
              <a:buChar char="•"/>
            </a:pPr>
            <a:r>
              <a:rPr lang="en-US" altLang="en-US" sz="2000" i="1"/>
              <a:t>Dates, taxes, and invoice and customer numbers </a:t>
            </a:r>
          </a:p>
          <a:p>
            <a:pPr algn="l" eaLnBrk="1" hangingPunct="1">
              <a:spcBef>
                <a:spcPts val="1200"/>
              </a:spcBef>
              <a:buFontTx/>
              <a:buChar char="•"/>
            </a:pPr>
            <a:r>
              <a:rPr lang="en-US" altLang="en-US" sz="2400"/>
              <a:t>Print invoice </a:t>
            </a:r>
          </a:p>
          <a:p>
            <a:pPr lvl="1" algn="l" eaLnBrk="1" hangingPunct="1">
              <a:spcBef>
                <a:spcPts val="1200"/>
              </a:spcBef>
              <a:buFontTx/>
              <a:buChar char="•"/>
            </a:pPr>
            <a:r>
              <a:rPr lang="en-US" altLang="en-US" sz="2000" i="1"/>
              <a:t>Billing address, all line items, amount due</a:t>
            </a:r>
            <a:r>
              <a:rPr lang="en-US" altLang="en-US" sz="2400" i="1"/>
              <a:t> </a:t>
            </a:r>
          </a:p>
          <a:p>
            <a:pPr algn="l" eaLnBrk="1" hangingPunct="1">
              <a:spcBef>
                <a:spcPts val="1200"/>
              </a:spcBef>
              <a:buFontTx/>
              <a:buChar char="•"/>
            </a:pPr>
            <a:r>
              <a:rPr lang="en-US" altLang="en-US" sz="2400"/>
              <a:t>Line item </a:t>
            </a:r>
          </a:p>
          <a:p>
            <a:pPr lvl="1" algn="l" eaLnBrk="1" hangingPunct="1">
              <a:spcBef>
                <a:spcPts val="1200"/>
              </a:spcBef>
              <a:buFontTx/>
              <a:buChar char="•"/>
            </a:pPr>
            <a:r>
              <a:rPr lang="en-US" altLang="en-US" sz="2000" i="1"/>
              <a:t>Description, unit price, quantity ordered, total price </a:t>
            </a:r>
          </a:p>
          <a:p>
            <a:pPr algn="l" eaLnBrk="1" hangingPunct="1">
              <a:spcBef>
                <a:spcPts val="1200"/>
              </a:spcBef>
              <a:buFontTx/>
              <a:buChar char="•"/>
            </a:pPr>
            <a:r>
              <a:rPr lang="en-US" altLang="en-US" sz="2400"/>
              <a:t>For simplicity, do not provide a user interface </a:t>
            </a:r>
          </a:p>
          <a:p>
            <a:pPr algn="l" eaLnBrk="1" hangingPunct="1">
              <a:spcBef>
                <a:spcPts val="1200"/>
              </a:spcBef>
              <a:buFontTx/>
              <a:buChar char="•"/>
            </a:pPr>
            <a:r>
              <a:rPr lang="en-US" altLang="en-US" sz="2400"/>
              <a:t>Test program: Adds line items to the invoice and then prints it </a:t>
            </a:r>
          </a:p>
        </p:txBody>
      </p:sp>
      <p:sp>
        <p:nvSpPr>
          <p:cNvPr id="39940" name="Text Box 4"/>
          <p:cNvSpPr txBox="1">
            <a:spLocks noChangeArrowheads="1"/>
          </p:cNvSpPr>
          <p:nvPr/>
        </p:nvSpPr>
        <p:spPr bwMode="auto">
          <a:xfrm>
            <a:off x="0" y="304800"/>
            <a:ext cx="8686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/>
            <a:r>
              <a:rPr lang="en-US" altLang="en-US" sz="2400" b="1">
                <a:latin typeface="Lucida Sans" pitchFamily="34" charset="0"/>
              </a:rPr>
              <a:t>Case Study: Printing an Invoice — Requirements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8" grpId="0" build="p" bldLvl="2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eaLnBrk="1" hangingPunct="1"/>
            <a:r>
              <a:rPr lang="en-US" altLang="en-US" i="1"/>
              <a:t>Big Java</a:t>
            </a:r>
            <a:r>
              <a:rPr lang="en-US" altLang="en-US"/>
              <a:t> by Cay Horstmann</a:t>
            </a:r>
          </a:p>
          <a:p>
            <a:pPr eaLnBrk="1" hangingPunct="1"/>
            <a:r>
              <a:rPr lang="en-US" altLang="en-US"/>
              <a:t>Copyright © 2009 by John Wiley &amp; Sons.  All rights reserved.</a:t>
            </a:r>
          </a:p>
        </p:txBody>
      </p:sp>
      <p:sp>
        <p:nvSpPr>
          <p:cNvPr id="40963" name="Rectangle 3"/>
          <p:cNvSpPr>
            <a:spLocks noChangeArrowheads="1"/>
          </p:cNvSpPr>
          <p:nvPr/>
        </p:nvSpPr>
        <p:spPr bwMode="auto">
          <a:xfrm>
            <a:off x="381000" y="762000"/>
            <a:ext cx="5410200" cy="3662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tabLst>
                <a:tab pos="2286000" algn="l"/>
                <a:tab pos="3200400" algn="l"/>
                <a:tab pos="4003675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tabLst>
                <a:tab pos="2286000" algn="l"/>
                <a:tab pos="3200400" algn="l"/>
                <a:tab pos="4003675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tabLst>
                <a:tab pos="2286000" algn="l"/>
                <a:tab pos="3200400" algn="l"/>
                <a:tab pos="4003675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tabLst>
                <a:tab pos="2286000" algn="l"/>
                <a:tab pos="3200400" algn="l"/>
                <a:tab pos="4003675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tabLst>
                <a:tab pos="2286000" algn="l"/>
                <a:tab pos="3200400" algn="l"/>
                <a:tab pos="4003675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0" algn="l"/>
                <a:tab pos="3200400" algn="l"/>
                <a:tab pos="4003675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0" algn="l"/>
                <a:tab pos="3200400" algn="l"/>
                <a:tab pos="4003675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0" algn="l"/>
                <a:tab pos="3200400" algn="l"/>
                <a:tab pos="4003675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0" algn="l"/>
                <a:tab pos="3200400" algn="l"/>
                <a:tab pos="4003675" algn="l"/>
              </a:tabLs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/>
            <a:endParaRPr lang="en-US" altLang="en-US" b="1"/>
          </a:p>
          <a:p>
            <a:pPr eaLnBrk="1" hangingPunct="1"/>
            <a:r>
              <a:rPr lang="en-US" altLang="en-US"/>
              <a:t>I N V O I C E </a:t>
            </a:r>
            <a:br>
              <a:rPr lang="en-US" altLang="en-US"/>
            </a:br>
            <a:endParaRPr lang="en-US" altLang="en-US"/>
          </a:p>
          <a:p>
            <a:pPr algn="l" eaLnBrk="1" hangingPunct="1"/>
            <a:r>
              <a:rPr lang="en-US" altLang="en-US"/>
              <a:t>Sam’s Small Appliances </a:t>
            </a:r>
            <a:br>
              <a:rPr lang="en-US" altLang="en-US"/>
            </a:br>
            <a:r>
              <a:rPr lang="en-US" altLang="en-US"/>
              <a:t>100 Main Street </a:t>
            </a:r>
            <a:br>
              <a:rPr lang="en-US" altLang="en-US"/>
            </a:br>
            <a:r>
              <a:rPr lang="en-US" altLang="en-US"/>
              <a:t>Anytown, CA 98765 </a:t>
            </a:r>
            <a:br>
              <a:rPr lang="en-US" altLang="en-US"/>
            </a:br>
            <a:br>
              <a:rPr lang="en-US" altLang="en-US"/>
            </a:br>
            <a:r>
              <a:rPr lang="en-US" altLang="en-US"/>
              <a:t>Description 	Price 	Qty 	Total </a:t>
            </a:r>
            <a:br>
              <a:rPr lang="en-US" altLang="en-US"/>
            </a:br>
            <a:r>
              <a:rPr lang="en-US" altLang="en-US"/>
              <a:t>Toaster 	29.95 	3	 89.85 </a:t>
            </a:r>
            <a:br>
              <a:rPr lang="en-US" altLang="en-US"/>
            </a:br>
            <a:r>
              <a:rPr lang="en-US" altLang="en-US"/>
              <a:t>Hair dryer 	24.95 	1	 24.95 </a:t>
            </a:r>
            <a:br>
              <a:rPr lang="en-US" altLang="en-US"/>
            </a:br>
            <a:r>
              <a:rPr lang="en-US" altLang="en-US"/>
              <a:t>Car vacuum 	19.99 	2	 39.98 </a:t>
            </a:r>
            <a:br>
              <a:rPr lang="en-US" altLang="en-US"/>
            </a:br>
            <a:br>
              <a:rPr lang="en-US" altLang="en-US"/>
            </a:br>
            <a:r>
              <a:rPr lang="en-US" altLang="en-US"/>
              <a:t>AMOUNT DUE:  $154.78</a:t>
            </a:r>
          </a:p>
        </p:txBody>
      </p:sp>
      <p:sp>
        <p:nvSpPr>
          <p:cNvPr id="40964" name="Text Box 4"/>
          <p:cNvSpPr txBox="1">
            <a:spLocks noChangeArrowheads="1"/>
          </p:cNvSpPr>
          <p:nvPr/>
        </p:nvSpPr>
        <p:spPr bwMode="auto">
          <a:xfrm>
            <a:off x="0" y="304800"/>
            <a:ext cx="701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/>
            <a:r>
              <a:rPr lang="en-US" altLang="en-US" sz="2400" b="1">
                <a:latin typeface="Lucida Sans" pitchFamily="34" charset="0"/>
              </a:rPr>
              <a:t>Case Study: Sample Invoice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eaLnBrk="1" hangingPunct="1"/>
            <a:r>
              <a:rPr lang="en-US" altLang="en-US" i="1"/>
              <a:t>Big Java</a:t>
            </a:r>
            <a:r>
              <a:rPr lang="en-US" altLang="en-US"/>
              <a:t> by Cay Horstmann</a:t>
            </a:r>
          </a:p>
          <a:p>
            <a:pPr eaLnBrk="1" hangingPunct="1"/>
            <a:r>
              <a:rPr lang="en-US" altLang="en-US"/>
              <a:t>Copyright © 2009 by John Wiley &amp; Sons.  All rights reserved.</a:t>
            </a:r>
          </a:p>
        </p:txBody>
      </p:sp>
      <p:sp>
        <p:nvSpPr>
          <p:cNvPr id="59396" name="Rectangle 3"/>
          <p:cNvSpPr>
            <a:spLocks noChangeArrowheads="1"/>
          </p:cNvSpPr>
          <p:nvPr/>
        </p:nvSpPr>
        <p:spPr bwMode="auto">
          <a:xfrm>
            <a:off x="0" y="915988"/>
            <a:ext cx="9144000" cy="403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236538" indent="-236538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693738" indent="-236538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400"/>
              <a:t>Discover classes </a:t>
            </a:r>
          </a:p>
          <a:p>
            <a:pPr algn="l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400"/>
              <a:t>Nouns are possible classes: </a:t>
            </a:r>
          </a:p>
          <a:p>
            <a:pPr lvl="1" algn="l" eaLnBrk="1" hangingPunct="1">
              <a:spcBef>
                <a:spcPct val="50000"/>
              </a:spcBef>
            </a:pPr>
            <a:r>
              <a:rPr lang="en-US" altLang="en-US" sz="2400">
                <a:latin typeface="Courier New" pitchFamily="49" charset="0"/>
              </a:rPr>
              <a:t>	</a:t>
            </a:r>
            <a: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  <a:t>Invoice </a:t>
            </a:r>
            <a:b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</a:br>
            <a: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  <a:t>Address </a:t>
            </a:r>
            <a:b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</a:br>
            <a: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  <a:t>LineItem </a:t>
            </a:r>
            <a:b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</a:br>
            <a: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  <a:t>Product </a:t>
            </a:r>
            <a:b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</a:br>
            <a: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  <a:t>Description </a:t>
            </a:r>
            <a:b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</a:br>
            <a: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  <a:t>Price </a:t>
            </a:r>
            <a:b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</a:br>
            <a: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  <a:t>Quantity </a:t>
            </a:r>
            <a:b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</a:br>
            <a: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  <a:t>Total </a:t>
            </a:r>
            <a:b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</a:br>
            <a: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  <a:t>Amount Due</a:t>
            </a:r>
          </a:p>
        </p:txBody>
      </p:sp>
      <p:sp>
        <p:nvSpPr>
          <p:cNvPr id="41988" name="Text Box 4"/>
          <p:cNvSpPr txBox="1">
            <a:spLocks noChangeArrowheads="1"/>
          </p:cNvSpPr>
          <p:nvPr/>
        </p:nvSpPr>
        <p:spPr bwMode="auto">
          <a:xfrm>
            <a:off x="0" y="304800"/>
            <a:ext cx="7620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/>
            <a:r>
              <a:rPr lang="en-US" altLang="en-US" sz="2400" b="1">
                <a:latin typeface="Lucida Sans" pitchFamily="34" charset="0"/>
              </a:rPr>
              <a:t>Case Study: Printing an Invoice — CRC Cards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6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eaLnBrk="1" hangingPunct="1"/>
            <a:r>
              <a:rPr lang="en-US" altLang="en-US" i="1"/>
              <a:t>Big Java</a:t>
            </a:r>
            <a:r>
              <a:rPr lang="en-US" altLang="en-US"/>
              <a:t> by Cay Horstmann</a:t>
            </a:r>
          </a:p>
          <a:p>
            <a:pPr eaLnBrk="1" hangingPunct="1"/>
            <a:r>
              <a:rPr lang="en-US" altLang="en-US"/>
              <a:t>Copyright © 2009 by John Wiley &amp; Sons.  All rights reserved.</a:t>
            </a:r>
          </a:p>
        </p:txBody>
      </p:sp>
      <p:sp>
        <p:nvSpPr>
          <p:cNvPr id="60420" name="Rectangle 3"/>
          <p:cNvSpPr>
            <a:spLocks noChangeArrowheads="1"/>
          </p:cNvSpPr>
          <p:nvPr/>
        </p:nvSpPr>
        <p:spPr bwMode="auto">
          <a:xfrm>
            <a:off x="0" y="914400"/>
            <a:ext cx="9144000" cy="541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236538" indent="-236538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693738" indent="-236538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>
              <a:spcBef>
                <a:spcPts val="1200"/>
              </a:spcBef>
              <a:buFontTx/>
              <a:buChar char="•"/>
            </a:pPr>
            <a:r>
              <a:rPr lang="en-US" altLang="en-US" sz="2400"/>
              <a:t>Analyze classes:</a:t>
            </a:r>
          </a:p>
          <a:p>
            <a:pPr lvl="1" algn="l" eaLnBrk="1" hangingPunct="1">
              <a:spcBef>
                <a:spcPts val="1200"/>
              </a:spcBef>
            </a:pPr>
            <a:r>
              <a:rPr lang="en-US" altLang="en-US" sz="2400">
                <a:latin typeface="Courier New" pitchFamily="49" charset="0"/>
              </a:rPr>
              <a:t>	</a:t>
            </a:r>
            <a: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  <a:t>Invoice </a:t>
            </a:r>
            <a:b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</a:br>
            <a: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  <a:t>Address </a:t>
            </a:r>
            <a:b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</a:br>
            <a: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  <a:t>LineItem     // Records the product and the quantity </a:t>
            </a:r>
            <a:b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</a:br>
            <a: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  <a:t>Product </a:t>
            </a:r>
            <a:b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</a:br>
            <a: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  <a:t>Description  // variable of the Product class </a:t>
            </a:r>
            <a:b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</a:br>
            <a: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  <a:t>Price        // variable of the Product class </a:t>
            </a:r>
            <a:b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</a:br>
            <a: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  <a:t>Quantity     // Not an attribute of a Product </a:t>
            </a:r>
            <a:b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</a:br>
            <a: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  <a:t>Total        // Computed – not stored anywhere </a:t>
            </a:r>
            <a:b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</a:br>
            <a: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  <a:t>Amount Due   // Computed – not stored anywhere </a:t>
            </a:r>
          </a:p>
          <a:p>
            <a:pPr algn="l" eaLnBrk="1" hangingPunct="1">
              <a:spcBef>
                <a:spcPts val="1200"/>
              </a:spcBef>
              <a:buFontTx/>
              <a:buChar char="•"/>
            </a:pPr>
            <a:r>
              <a:rPr lang="en-US" altLang="en-US" sz="2400"/>
              <a:t>Classes after a process of elimination:</a:t>
            </a:r>
          </a:p>
          <a:p>
            <a:pPr lvl="1" algn="l" eaLnBrk="1" hangingPunct="1">
              <a:spcBef>
                <a:spcPts val="1200"/>
              </a:spcBef>
            </a:pPr>
            <a:r>
              <a:rPr lang="en-US" altLang="en-US" sz="2400">
                <a:latin typeface="Courier New" pitchFamily="49" charset="0"/>
              </a:rPr>
              <a:t>	</a:t>
            </a:r>
            <a: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  <a:t>Invoice </a:t>
            </a:r>
            <a:b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</a:br>
            <a: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  <a:t>Address </a:t>
            </a:r>
            <a:b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</a:br>
            <a: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  <a:t>LineItem </a:t>
            </a:r>
            <a:b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</a:br>
            <a: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  <a:t>Product</a:t>
            </a:r>
          </a:p>
        </p:txBody>
      </p:sp>
      <p:sp>
        <p:nvSpPr>
          <p:cNvPr id="43012" name="Text Box 4"/>
          <p:cNvSpPr txBox="1">
            <a:spLocks noChangeArrowheads="1"/>
          </p:cNvSpPr>
          <p:nvPr/>
        </p:nvSpPr>
        <p:spPr bwMode="auto">
          <a:xfrm>
            <a:off x="0" y="304800"/>
            <a:ext cx="7391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/>
            <a:r>
              <a:rPr lang="en-US" altLang="en-US" sz="2400" b="1">
                <a:latin typeface="Lucida Sans" pitchFamily="34" charset="0"/>
              </a:rPr>
              <a:t>Case Study: Printing an Invoice — CRC Cards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0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eaLnBrk="1" hangingPunct="1"/>
            <a:r>
              <a:rPr lang="en-US" altLang="en-US" i="1"/>
              <a:t>Big Java</a:t>
            </a:r>
            <a:r>
              <a:rPr lang="en-US" altLang="en-US"/>
              <a:t> by Cay Horstmann</a:t>
            </a:r>
          </a:p>
          <a:p>
            <a:pPr eaLnBrk="1" hangingPunct="1"/>
            <a:r>
              <a:rPr lang="en-US" altLang="en-US"/>
              <a:t>Copyright © 2009 by John Wiley &amp; Sons.  All rights reserved.</a:t>
            </a:r>
          </a:p>
        </p:txBody>
      </p:sp>
      <p:sp>
        <p:nvSpPr>
          <p:cNvPr id="44035" name="Text Box 6"/>
          <p:cNvSpPr txBox="1">
            <a:spLocks noChangeArrowheads="1"/>
          </p:cNvSpPr>
          <p:nvPr/>
        </p:nvSpPr>
        <p:spPr bwMode="auto">
          <a:xfrm>
            <a:off x="0" y="304800"/>
            <a:ext cx="701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/>
            <a:r>
              <a:rPr lang="en-US" altLang="en-US" sz="2400" b="1">
                <a:latin typeface="Lucida Sans" pitchFamily="34" charset="0"/>
              </a:rPr>
              <a:t>CRC Cards for Printing Invoice</a:t>
            </a:r>
          </a:p>
        </p:txBody>
      </p:sp>
      <p:sp>
        <p:nvSpPr>
          <p:cNvPr id="44036" name="Text Box 7"/>
          <p:cNvSpPr txBox="1">
            <a:spLocks noChangeArrowheads="1"/>
          </p:cNvSpPr>
          <p:nvPr/>
        </p:nvSpPr>
        <p:spPr bwMode="auto">
          <a:xfrm>
            <a:off x="0" y="9144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36538" indent="-236538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sz="2400">
                <a:solidFill>
                  <a:srgbClr val="6E7069"/>
                </a:solidFill>
                <a:latin typeface="Courier New" pitchFamily="49" charset="0"/>
              </a:rPr>
              <a:t>Invoice</a:t>
            </a:r>
            <a:r>
              <a:rPr lang="en-US" altLang="en-US" sz="2400">
                <a:solidFill>
                  <a:srgbClr val="6E7069"/>
                </a:solidFill>
              </a:rPr>
              <a:t> </a:t>
            </a:r>
            <a:r>
              <a:rPr lang="en-US" altLang="en-US" sz="2400"/>
              <a:t>and </a:t>
            </a:r>
            <a:r>
              <a:rPr lang="en-US" altLang="en-US" sz="2400">
                <a:solidFill>
                  <a:srgbClr val="6E7069"/>
                </a:solidFill>
                <a:latin typeface="Courier New" pitchFamily="49" charset="0"/>
              </a:rPr>
              <a:t>Address</a:t>
            </a:r>
            <a:r>
              <a:rPr lang="en-US" altLang="en-US" sz="2400"/>
              <a:t> must be able to format themselves: </a:t>
            </a:r>
          </a:p>
        </p:txBody>
      </p:sp>
      <p:pic>
        <p:nvPicPr>
          <p:cNvPr id="44037" name="Picture 8" descr="crc_invoi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47800"/>
            <a:ext cx="4191000" cy="2557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38" name="Picture 9" descr="crc_addres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171950"/>
            <a:ext cx="4191000" cy="254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eaLnBrk="1" hangingPunct="1"/>
            <a:r>
              <a:rPr lang="en-US" altLang="en-US" i="1"/>
              <a:t>Big Java</a:t>
            </a:r>
            <a:r>
              <a:rPr lang="en-US" altLang="en-US"/>
              <a:t> by Cay Horstmann</a:t>
            </a:r>
          </a:p>
          <a:p>
            <a:pPr eaLnBrk="1" hangingPunct="1"/>
            <a:r>
              <a:rPr lang="en-US" altLang="en-US"/>
              <a:t>Copyright © 2009 by John Wiley &amp; Sons.  All rights reserved.</a:t>
            </a:r>
          </a:p>
        </p:txBody>
      </p:sp>
      <p:sp>
        <p:nvSpPr>
          <p:cNvPr id="45059" name="Rectangle 3"/>
          <p:cNvSpPr>
            <a:spLocks noChangeArrowheads="1"/>
          </p:cNvSpPr>
          <p:nvPr/>
        </p:nvSpPr>
        <p:spPr bwMode="auto">
          <a:xfrm>
            <a:off x="0" y="914400"/>
            <a:ext cx="7391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/>
            <a:r>
              <a:rPr lang="en-US" altLang="en-US" sz="2400"/>
              <a:t>Add collaborators to invoice card:</a:t>
            </a:r>
          </a:p>
        </p:txBody>
      </p:sp>
      <p:sp>
        <p:nvSpPr>
          <p:cNvPr id="45060" name="Text Box 5"/>
          <p:cNvSpPr txBox="1">
            <a:spLocks noChangeArrowheads="1"/>
          </p:cNvSpPr>
          <p:nvPr/>
        </p:nvSpPr>
        <p:spPr bwMode="auto">
          <a:xfrm>
            <a:off x="0" y="304800"/>
            <a:ext cx="701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/>
            <a:r>
              <a:rPr lang="en-US" altLang="en-US" sz="2400" b="1">
                <a:latin typeface="Lucida Sans" pitchFamily="34" charset="0"/>
              </a:rPr>
              <a:t>CRC Cards for Printing Invoice</a:t>
            </a:r>
          </a:p>
        </p:txBody>
      </p:sp>
      <p:pic>
        <p:nvPicPr>
          <p:cNvPr id="45061" name="Picture 6" descr="crc_invoice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47800"/>
            <a:ext cx="4187825" cy="2547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eaLnBrk="1" hangingPunct="1"/>
            <a:r>
              <a:rPr lang="en-US" altLang="en-US" i="1"/>
              <a:t>Big Java</a:t>
            </a:r>
            <a:r>
              <a:rPr lang="en-US" altLang="en-US"/>
              <a:t> by Cay Horstmann</a:t>
            </a:r>
          </a:p>
          <a:p>
            <a:pPr eaLnBrk="1" hangingPunct="1"/>
            <a:r>
              <a:rPr lang="en-US" altLang="en-US"/>
              <a:t>Copyright © 2009 by John Wiley &amp; Sons.  All rights reserved.</a:t>
            </a:r>
          </a:p>
        </p:txBody>
      </p:sp>
      <p:sp>
        <p:nvSpPr>
          <p:cNvPr id="46083" name="Text Box 6"/>
          <p:cNvSpPr txBox="1">
            <a:spLocks noChangeArrowheads="1"/>
          </p:cNvSpPr>
          <p:nvPr/>
        </p:nvSpPr>
        <p:spPr bwMode="auto">
          <a:xfrm>
            <a:off x="0" y="304800"/>
            <a:ext cx="701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/>
            <a:r>
              <a:rPr lang="en-US" altLang="en-US" sz="2400" b="1">
                <a:latin typeface="Lucida Sans" pitchFamily="34" charset="0"/>
              </a:rPr>
              <a:t>CRC Cards for Printing Invoice</a:t>
            </a:r>
          </a:p>
        </p:txBody>
      </p:sp>
      <p:sp>
        <p:nvSpPr>
          <p:cNvPr id="46084" name="Text Box 7"/>
          <p:cNvSpPr txBox="1">
            <a:spLocks noChangeArrowheads="1"/>
          </p:cNvSpPr>
          <p:nvPr/>
        </p:nvSpPr>
        <p:spPr bwMode="auto">
          <a:xfrm>
            <a:off x="0" y="914400"/>
            <a:ext cx="6019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sz="2400">
                <a:solidFill>
                  <a:srgbClr val="6E7069"/>
                </a:solidFill>
                <a:latin typeface="Courier New" pitchFamily="49" charset="0"/>
              </a:rPr>
              <a:t>Product</a:t>
            </a:r>
            <a:r>
              <a:rPr lang="en-US" altLang="en-US" sz="2400">
                <a:solidFill>
                  <a:srgbClr val="6E7069"/>
                </a:solidFill>
              </a:rPr>
              <a:t> </a:t>
            </a:r>
            <a:r>
              <a:rPr lang="en-US" altLang="en-US" sz="2400"/>
              <a:t>and </a:t>
            </a:r>
            <a:r>
              <a:rPr lang="en-US" altLang="en-US" sz="2400">
                <a:solidFill>
                  <a:srgbClr val="6E7069"/>
                </a:solidFill>
                <a:latin typeface="Courier New" pitchFamily="49" charset="0"/>
              </a:rPr>
              <a:t>LineItem</a:t>
            </a:r>
            <a:r>
              <a:rPr lang="en-US" altLang="en-US" sz="2400"/>
              <a:t> CRC cards:</a:t>
            </a:r>
          </a:p>
        </p:txBody>
      </p:sp>
      <p:pic>
        <p:nvPicPr>
          <p:cNvPr id="46085" name="Picture 8" descr="crc_produc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47800"/>
            <a:ext cx="4191000" cy="2538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86" name="Picture 9" descr="crc_lineite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156075"/>
            <a:ext cx="4191000" cy="254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eaLnBrk="1" hangingPunct="1"/>
            <a:r>
              <a:rPr lang="en-US" altLang="en-US" i="1"/>
              <a:t>Big Java</a:t>
            </a:r>
            <a:r>
              <a:rPr lang="en-US" altLang="en-US"/>
              <a:t> by Cay Horstmann</a:t>
            </a:r>
          </a:p>
          <a:p>
            <a:pPr eaLnBrk="1" hangingPunct="1"/>
            <a:r>
              <a:rPr lang="en-US" altLang="en-US"/>
              <a:t>Copyright © 2009 by John Wiley &amp; Sons.  All rights reserved.</a:t>
            </a:r>
          </a:p>
        </p:txBody>
      </p:sp>
      <p:sp>
        <p:nvSpPr>
          <p:cNvPr id="47107" name="Text Box 5"/>
          <p:cNvSpPr txBox="1">
            <a:spLocks noChangeArrowheads="1"/>
          </p:cNvSpPr>
          <p:nvPr/>
        </p:nvSpPr>
        <p:spPr bwMode="auto">
          <a:xfrm>
            <a:off x="0" y="304800"/>
            <a:ext cx="701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/>
            <a:r>
              <a:rPr lang="en-US" altLang="en-US" sz="2400" b="1">
                <a:latin typeface="Lucida Sans" pitchFamily="34" charset="0"/>
              </a:rPr>
              <a:t>CRC Cards for Printing Invoice</a:t>
            </a:r>
          </a:p>
        </p:txBody>
      </p:sp>
      <p:sp>
        <p:nvSpPr>
          <p:cNvPr id="47108" name="Text Box 6"/>
          <p:cNvSpPr txBox="1">
            <a:spLocks noChangeArrowheads="1"/>
          </p:cNvSpPr>
          <p:nvPr/>
        </p:nvSpPr>
        <p:spPr bwMode="auto">
          <a:xfrm>
            <a:off x="0" y="914400"/>
            <a:ext cx="822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sz="2400"/>
              <a:t>Invoice must be populated with products and quantities:</a:t>
            </a:r>
            <a:r>
              <a:rPr lang="en-US" altLang="en-US"/>
              <a:t> </a:t>
            </a:r>
          </a:p>
        </p:txBody>
      </p:sp>
      <p:pic>
        <p:nvPicPr>
          <p:cNvPr id="47109" name="Picture 7" descr="crc_invoice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47800"/>
            <a:ext cx="4953000" cy="298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eaLnBrk="1" hangingPunct="1"/>
            <a:r>
              <a:rPr lang="en-US" altLang="en-US" i="1"/>
              <a:t>Big Java</a:t>
            </a:r>
            <a:r>
              <a:rPr lang="en-US" altLang="en-US"/>
              <a:t> by Cay Horstmann</a:t>
            </a:r>
          </a:p>
          <a:p>
            <a:pPr eaLnBrk="1" hangingPunct="1"/>
            <a:r>
              <a:rPr lang="en-US" altLang="en-US"/>
              <a:t>Copyright © 2009 by John Wiley &amp; Sons.  All rights reserved.</a:t>
            </a:r>
          </a:p>
        </p:txBody>
      </p:sp>
      <p:sp>
        <p:nvSpPr>
          <p:cNvPr id="48131" name="Text Box 5"/>
          <p:cNvSpPr txBox="1">
            <a:spLocks noChangeArrowheads="1"/>
          </p:cNvSpPr>
          <p:nvPr/>
        </p:nvSpPr>
        <p:spPr bwMode="auto">
          <a:xfrm>
            <a:off x="0" y="304800"/>
            <a:ext cx="701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/>
            <a:r>
              <a:rPr lang="en-US" altLang="en-US" sz="2400" b="1">
                <a:latin typeface="Lucida Sans" pitchFamily="34" charset="0"/>
              </a:rPr>
              <a:t>Printing an Invoice — UML Diagrams</a:t>
            </a:r>
          </a:p>
        </p:txBody>
      </p:sp>
      <p:pic>
        <p:nvPicPr>
          <p:cNvPr id="48132" name="Picture 5" descr="invoiceclasses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143000"/>
            <a:ext cx="8458200" cy="410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eaLnBrk="1" hangingPunct="1"/>
            <a:r>
              <a:rPr lang="en-US" altLang="en-US" i="1"/>
              <a:t>Big Java</a:t>
            </a:r>
            <a:r>
              <a:rPr lang="en-US" altLang="en-US"/>
              <a:t> by Cay Horstmann</a:t>
            </a:r>
          </a:p>
          <a:p>
            <a:pPr eaLnBrk="1" hangingPunct="1"/>
            <a:r>
              <a:rPr lang="en-US" altLang="en-US"/>
              <a:t>Copyright © 2009 by John Wiley &amp; Sons.  All rights reserved.</a:t>
            </a:r>
          </a:p>
        </p:txBody>
      </p:sp>
      <p:sp>
        <p:nvSpPr>
          <p:cNvPr id="66564" name="Rectangle 3"/>
          <p:cNvSpPr>
            <a:spLocks noChangeArrowheads="1"/>
          </p:cNvSpPr>
          <p:nvPr/>
        </p:nvSpPr>
        <p:spPr bwMode="auto">
          <a:xfrm>
            <a:off x="0" y="914400"/>
            <a:ext cx="9144000" cy="415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236538" indent="-236538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630238" indent="-173038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>
              <a:spcBef>
                <a:spcPts val="1200"/>
              </a:spcBef>
              <a:buFontTx/>
              <a:buChar char="•"/>
            </a:pPr>
            <a:r>
              <a:rPr lang="en-US" altLang="en-US" sz="2400"/>
              <a:t>Use </a:t>
            </a:r>
            <a:r>
              <a:rPr lang="en-US" altLang="en-US" sz="2400">
                <a:solidFill>
                  <a:srgbClr val="6E7069"/>
                </a:solidFill>
                <a:latin typeface="Courier New" pitchFamily="49" charset="0"/>
              </a:rPr>
              <a:t>javadoc</a:t>
            </a:r>
            <a:r>
              <a:rPr lang="en-US" altLang="en-US" sz="2400">
                <a:solidFill>
                  <a:srgbClr val="6E7069"/>
                </a:solidFill>
              </a:rPr>
              <a:t> </a:t>
            </a:r>
            <a:r>
              <a:rPr lang="en-US" altLang="en-US" sz="2400"/>
              <a:t>documentation to record the behavior of the classes </a:t>
            </a:r>
          </a:p>
          <a:p>
            <a:pPr algn="l" eaLnBrk="1" hangingPunct="1">
              <a:spcBef>
                <a:spcPts val="1200"/>
              </a:spcBef>
              <a:buFontTx/>
              <a:buChar char="•"/>
            </a:pPr>
            <a:r>
              <a:rPr lang="en-US" altLang="en-US" sz="2400"/>
              <a:t>Leave the body of the methods blank </a:t>
            </a:r>
          </a:p>
          <a:p>
            <a:pPr algn="l" eaLnBrk="1" hangingPunct="1">
              <a:spcBef>
                <a:spcPts val="1200"/>
              </a:spcBef>
              <a:buFontTx/>
              <a:buChar char="•"/>
            </a:pPr>
            <a:r>
              <a:rPr lang="en-US" altLang="en-US" sz="2400"/>
              <a:t>Run </a:t>
            </a:r>
            <a:r>
              <a:rPr lang="en-US" altLang="en-US" sz="2400">
                <a:solidFill>
                  <a:srgbClr val="6E7069"/>
                </a:solidFill>
                <a:latin typeface="Courier New" pitchFamily="49" charset="0"/>
              </a:rPr>
              <a:t>javadoc</a:t>
            </a:r>
            <a:r>
              <a:rPr lang="en-US" altLang="en-US" sz="2400"/>
              <a:t> to obtain formatted version of documentation in HTML format </a:t>
            </a:r>
          </a:p>
          <a:p>
            <a:pPr algn="l" eaLnBrk="1" hangingPunct="1">
              <a:spcBef>
                <a:spcPts val="1200"/>
              </a:spcBef>
              <a:buFontTx/>
              <a:buChar char="•"/>
            </a:pPr>
            <a:r>
              <a:rPr lang="en-US" altLang="en-US" sz="2400"/>
              <a:t>Advantages: </a:t>
            </a:r>
          </a:p>
          <a:p>
            <a:pPr lvl="1" algn="l" eaLnBrk="1" hangingPunct="1">
              <a:spcBef>
                <a:spcPts val="1200"/>
              </a:spcBef>
              <a:buFontTx/>
              <a:buChar char="•"/>
            </a:pPr>
            <a:r>
              <a:rPr lang="en-US" altLang="en-US" sz="2000" i="1"/>
              <a:t>Share HTML documentation with other team members </a:t>
            </a:r>
          </a:p>
          <a:p>
            <a:pPr lvl="1" algn="l" eaLnBrk="1" hangingPunct="1">
              <a:spcBef>
                <a:spcPts val="1200"/>
              </a:spcBef>
              <a:buFontTx/>
              <a:buChar char="•"/>
            </a:pPr>
            <a:r>
              <a:rPr lang="en-US" altLang="en-US" sz="2000" i="1"/>
              <a:t>Format is immediately useful: Java source files </a:t>
            </a:r>
          </a:p>
          <a:p>
            <a:pPr lvl="1" algn="l" eaLnBrk="1" hangingPunct="1">
              <a:spcBef>
                <a:spcPts val="1200"/>
              </a:spcBef>
              <a:buFontTx/>
              <a:buChar char="•"/>
            </a:pPr>
            <a:r>
              <a:rPr lang="en-US" altLang="en-US" sz="2000" i="1"/>
              <a:t>Supply the comments of the key methods </a:t>
            </a:r>
          </a:p>
        </p:txBody>
      </p:sp>
      <p:sp>
        <p:nvSpPr>
          <p:cNvPr id="49156" name="Text Box 4"/>
          <p:cNvSpPr txBox="1">
            <a:spLocks noChangeArrowheads="1"/>
          </p:cNvSpPr>
          <p:nvPr/>
        </p:nvSpPr>
        <p:spPr bwMode="auto">
          <a:xfrm>
            <a:off x="0" y="304800"/>
            <a:ext cx="7467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/>
            <a:r>
              <a:rPr lang="en-US" altLang="en-US" sz="2400" b="1">
                <a:latin typeface="Lucida Sans" pitchFamily="34" charset="0"/>
              </a:rPr>
              <a:t>Printing an Invoice — Method Documentation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eaLnBrk="1" hangingPunct="1"/>
            <a:r>
              <a:rPr lang="en-US" altLang="en-US" i="1"/>
              <a:t>Big Java</a:t>
            </a:r>
            <a:r>
              <a:rPr lang="en-US" altLang="en-US"/>
              <a:t> by Cay Horstmann</a:t>
            </a:r>
          </a:p>
          <a:p>
            <a:pPr eaLnBrk="1" hangingPunct="1"/>
            <a:r>
              <a:rPr lang="en-US" altLang="en-US"/>
              <a:t>Copyright © 2009 by John Wiley &amp; Sons.  All rights reserved.</a:t>
            </a:r>
          </a:p>
        </p:txBody>
      </p:sp>
      <p:sp>
        <p:nvSpPr>
          <p:cNvPr id="50179" name="Rectangle 3"/>
          <p:cNvSpPr>
            <a:spLocks noChangeArrowheads="1"/>
          </p:cNvSpPr>
          <p:nvPr/>
        </p:nvSpPr>
        <p:spPr bwMode="auto">
          <a:xfrm>
            <a:off x="0" y="914400"/>
            <a:ext cx="9144000" cy="466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/>
            <a:r>
              <a:rPr lang="en-US" altLang="en-US" sz="2000">
                <a:latin typeface="Courier New" pitchFamily="49" charset="0"/>
              </a:rPr>
              <a:t>/** </a:t>
            </a:r>
            <a:br>
              <a:rPr lang="en-US" altLang="en-US" sz="2000"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   Describes an invoice for a set of purchased products. </a:t>
            </a:r>
            <a:br>
              <a:rPr lang="en-US" altLang="en-US" sz="2000"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*/ </a:t>
            </a:r>
            <a:br>
              <a:rPr lang="en-US" altLang="en-US" sz="2000"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public class Invoice </a:t>
            </a:r>
            <a:br>
              <a:rPr lang="en-US" altLang="en-US" sz="2000"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{ </a:t>
            </a:r>
            <a:br>
              <a:rPr lang="en-US" altLang="en-US" sz="2000"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   /** </a:t>
            </a:r>
            <a:br>
              <a:rPr lang="en-US" altLang="en-US" sz="2000"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      Adds a charge for a product to this invoice. </a:t>
            </a:r>
            <a:br>
              <a:rPr lang="en-US" altLang="en-US" sz="2000"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      @param aProduct the product that the customer </a:t>
            </a:r>
            <a:br>
              <a:rPr lang="en-US" altLang="en-US" sz="2000"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         ordered </a:t>
            </a:r>
            <a:br>
              <a:rPr lang="en-US" altLang="en-US" sz="2000"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      @param quantity the quantity of the product </a:t>
            </a:r>
            <a:br>
              <a:rPr lang="en-US" altLang="en-US" sz="2000"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   */ </a:t>
            </a:r>
            <a:br>
              <a:rPr lang="en-US" altLang="en-US" sz="2000"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   public void add(Product aProduct, int quantity) </a:t>
            </a:r>
            <a:br>
              <a:rPr lang="en-US" altLang="en-US" sz="2000"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   { </a:t>
            </a:r>
            <a:br>
              <a:rPr lang="en-US" altLang="en-US" sz="2000"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   } </a:t>
            </a:r>
            <a:br>
              <a:rPr lang="en-US" altLang="en-US" sz="2000">
                <a:latin typeface="Courier New" pitchFamily="49" charset="0"/>
              </a:rPr>
            </a:br>
            <a:endParaRPr lang="en-US" altLang="en-US" sz="2000">
              <a:latin typeface="Courier New" pitchFamily="49" charset="0"/>
            </a:endParaRPr>
          </a:p>
        </p:txBody>
      </p:sp>
      <p:sp>
        <p:nvSpPr>
          <p:cNvPr id="50180" name="Text Box 4"/>
          <p:cNvSpPr txBox="1">
            <a:spLocks noChangeArrowheads="1"/>
          </p:cNvSpPr>
          <p:nvPr/>
        </p:nvSpPr>
        <p:spPr bwMode="auto">
          <a:xfrm>
            <a:off x="0" y="304800"/>
            <a:ext cx="701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/>
            <a:r>
              <a:rPr lang="en-US" altLang="en-US" sz="2400" b="1">
                <a:latin typeface="Lucida Sans" pitchFamily="34" charset="0"/>
              </a:rPr>
              <a:t>Method Documentation — </a:t>
            </a:r>
            <a:r>
              <a:rPr lang="en-US" altLang="en-US" sz="2400" b="1">
                <a:solidFill>
                  <a:srgbClr val="6E7069"/>
                </a:solidFill>
                <a:latin typeface="Courier New" pitchFamily="49" charset="0"/>
                <a:cs typeface="Courier New" pitchFamily="49" charset="0"/>
              </a:rPr>
              <a:t>Invoice </a:t>
            </a:r>
            <a:r>
              <a:rPr lang="en-US" altLang="en-US" sz="2400" b="1">
                <a:latin typeface="Lucida Sans" pitchFamily="34" charset="0"/>
                <a:cs typeface="Courier New" pitchFamily="49" charset="0"/>
              </a:rPr>
              <a:t>Class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7239000" y="5957888"/>
            <a:ext cx="1600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b="1" i="1"/>
              <a:t>Continued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eaLnBrk="1" hangingPunct="1"/>
            <a:r>
              <a:rPr lang="en-US" altLang="en-US" i="1"/>
              <a:t>Big Java</a:t>
            </a:r>
            <a:r>
              <a:rPr lang="en-US" altLang="en-US"/>
              <a:t> by Cay Horstmann</a:t>
            </a:r>
          </a:p>
          <a:p>
            <a:pPr eaLnBrk="1" hangingPunct="1"/>
            <a:r>
              <a:rPr lang="en-US" altLang="en-US"/>
              <a:t>Copyright © 2009 by John Wiley &amp; Sons.  All rights reserved.</a:t>
            </a:r>
          </a:p>
        </p:txBody>
      </p:sp>
      <p:sp>
        <p:nvSpPr>
          <p:cNvPr id="51203" name="Rectangle 3"/>
          <p:cNvSpPr>
            <a:spLocks noChangeArrowheads="1"/>
          </p:cNvSpPr>
          <p:nvPr/>
        </p:nvSpPr>
        <p:spPr bwMode="auto">
          <a:xfrm>
            <a:off x="0" y="914400"/>
            <a:ext cx="9144000" cy="255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/>
            <a:r>
              <a:rPr lang="en-US" altLang="en-US" sz="2000">
                <a:latin typeface="Courier New" pitchFamily="49" charset="0"/>
              </a:rPr>
              <a:t>   /** </a:t>
            </a:r>
            <a:br>
              <a:rPr lang="en-US" altLang="en-US" sz="2000"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      Formats the invoice. </a:t>
            </a:r>
            <a:br>
              <a:rPr lang="en-US" altLang="en-US" sz="2000"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      @return the formatted invoice </a:t>
            </a:r>
            <a:br>
              <a:rPr lang="en-US" altLang="en-US" sz="2000"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   */ </a:t>
            </a:r>
            <a:br>
              <a:rPr lang="en-US" altLang="en-US" sz="2000"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   public String format() </a:t>
            </a:r>
            <a:br>
              <a:rPr lang="en-US" altLang="en-US" sz="2000"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   { </a:t>
            </a:r>
            <a:br>
              <a:rPr lang="en-US" altLang="en-US" sz="2000"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   } </a:t>
            </a:r>
            <a:br>
              <a:rPr lang="en-US" altLang="en-US" sz="2000"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}</a:t>
            </a:r>
          </a:p>
        </p:txBody>
      </p:sp>
      <p:sp>
        <p:nvSpPr>
          <p:cNvPr id="51204" name="Text Box 4"/>
          <p:cNvSpPr txBox="1">
            <a:spLocks noChangeArrowheads="1"/>
          </p:cNvSpPr>
          <p:nvPr/>
        </p:nvSpPr>
        <p:spPr bwMode="auto">
          <a:xfrm>
            <a:off x="0" y="304800"/>
            <a:ext cx="9144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/>
            <a:r>
              <a:rPr lang="en-US" altLang="en-US" sz="2400" b="1">
                <a:latin typeface="Lucida Sans" pitchFamily="34" charset="0"/>
              </a:rPr>
              <a:t>Method Documentation — </a:t>
            </a:r>
            <a:r>
              <a:rPr lang="en-US" altLang="en-US" sz="2400" b="1">
                <a:solidFill>
                  <a:srgbClr val="6E7069"/>
                </a:solidFill>
                <a:latin typeface="Courier New" pitchFamily="49" charset="0"/>
                <a:cs typeface="Courier New" pitchFamily="49" charset="0"/>
              </a:rPr>
              <a:t>Invoice</a:t>
            </a:r>
            <a:r>
              <a:rPr lang="en-US" altLang="en-US" sz="2400" b="1">
                <a:latin typeface="Lucida Sans" pitchFamily="34" charset="0"/>
                <a:cs typeface="Courier New" pitchFamily="49" charset="0"/>
              </a:rPr>
              <a:t> Class (cont.)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eaLnBrk="1" hangingPunct="1"/>
            <a:r>
              <a:rPr lang="en-US" altLang="en-US" i="1"/>
              <a:t>Big Java</a:t>
            </a:r>
            <a:r>
              <a:rPr lang="en-US" altLang="en-US"/>
              <a:t> by Cay Horstmann</a:t>
            </a:r>
          </a:p>
          <a:p>
            <a:pPr eaLnBrk="1" hangingPunct="1"/>
            <a:r>
              <a:rPr lang="en-US" altLang="en-US"/>
              <a:t>Copyright © 2009 by John Wiley &amp; Sons.  All rights reserved.</a:t>
            </a:r>
          </a:p>
        </p:txBody>
      </p:sp>
      <p:sp>
        <p:nvSpPr>
          <p:cNvPr id="52227" name="Rectangle 3"/>
          <p:cNvSpPr>
            <a:spLocks noChangeArrowheads="1"/>
          </p:cNvSpPr>
          <p:nvPr/>
        </p:nvSpPr>
        <p:spPr bwMode="auto">
          <a:xfrm>
            <a:off x="0" y="914400"/>
            <a:ext cx="9144000" cy="405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/>
            <a:r>
              <a:rPr lang="en-US" altLang="en-US" sz="2000">
                <a:latin typeface="Courier New" pitchFamily="49" charset="0"/>
              </a:rPr>
              <a:t>/** </a:t>
            </a:r>
            <a:br>
              <a:rPr lang="en-US" altLang="en-US" sz="2000"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   Describes a quantity of an article to purchase and its </a:t>
            </a:r>
            <a:br>
              <a:rPr lang="en-US" altLang="en-US" sz="2000"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   price. </a:t>
            </a:r>
            <a:br>
              <a:rPr lang="en-US" altLang="en-US" sz="2000"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*/ </a:t>
            </a:r>
            <a:br>
              <a:rPr lang="en-US" altLang="en-US" sz="2000"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public class LineItem </a:t>
            </a:r>
            <a:br>
              <a:rPr lang="en-US" altLang="en-US" sz="2000"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{ </a:t>
            </a:r>
            <a:br>
              <a:rPr lang="en-US" altLang="en-US" sz="2000"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   /** </a:t>
            </a:r>
            <a:br>
              <a:rPr lang="en-US" altLang="en-US" sz="2000"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      Computes the total cost of this line item. </a:t>
            </a:r>
            <a:br>
              <a:rPr lang="en-US" altLang="en-US" sz="2000"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      @return the total price </a:t>
            </a:r>
            <a:br>
              <a:rPr lang="en-US" altLang="en-US" sz="2000"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   */ </a:t>
            </a:r>
            <a:br>
              <a:rPr lang="en-US" altLang="en-US" sz="2000"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   public double getTotalPrice() </a:t>
            </a:r>
            <a:br>
              <a:rPr lang="en-US" altLang="en-US" sz="2000"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   { </a:t>
            </a:r>
            <a:br>
              <a:rPr lang="en-US" altLang="en-US" sz="2000"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   } </a:t>
            </a:r>
          </a:p>
        </p:txBody>
      </p:sp>
      <p:sp>
        <p:nvSpPr>
          <p:cNvPr id="52228" name="Text Box 4"/>
          <p:cNvSpPr txBox="1">
            <a:spLocks noChangeArrowheads="1"/>
          </p:cNvSpPr>
          <p:nvPr/>
        </p:nvSpPr>
        <p:spPr bwMode="auto">
          <a:xfrm>
            <a:off x="0" y="304800"/>
            <a:ext cx="701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/>
            <a:r>
              <a:rPr lang="en-US" altLang="en-US" sz="2400" b="1">
                <a:latin typeface="Lucida Sans" pitchFamily="34" charset="0"/>
              </a:rPr>
              <a:t>Method Documentation – </a:t>
            </a:r>
            <a:r>
              <a:rPr lang="en-US" altLang="en-US" sz="2400" b="1">
                <a:solidFill>
                  <a:srgbClr val="6E7069"/>
                </a:solidFill>
                <a:latin typeface="Courier New" pitchFamily="49" charset="0"/>
                <a:cs typeface="Courier New" pitchFamily="49" charset="0"/>
              </a:rPr>
              <a:t>LineItem</a:t>
            </a:r>
            <a:r>
              <a:rPr lang="en-US" altLang="en-US" sz="2400" b="1">
                <a:latin typeface="Lucida Sans" pitchFamily="34" charset="0"/>
                <a:cs typeface="Courier New" pitchFamily="49" charset="0"/>
              </a:rPr>
              <a:t> Class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7239000" y="5957888"/>
            <a:ext cx="1600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b="1" i="1"/>
              <a:t>Continued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eaLnBrk="1" hangingPunct="1"/>
            <a:r>
              <a:rPr lang="en-US" altLang="en-US" i="1"/>
              <a:t>Big Java</a:t>
            </a:r>
            <a:r>
              <a:rPr lang="en-US" altLang="en-US"/>
              <a:t> by Cay Horstmann</a:t>
            </a:r>
          </a:p>
          <a:p>
            <a:pPr eaLnBrk="1" hangingPunct="1"/>
            <a:r>
              <a:rPr lang="en-US" altLang="en-US"/>
              <a:t>Copyright © 2009 by John Wiley &amp; Sons.  All rights reserved.</a:t>
            </a:r>
          </a:p>
        </p:txBody>
      </p:sp>
      <p:sp>
        <p:nvSpPr>
          <p:cNvPr id="53251" name="Rectangle 3"/>
          <p:cNvSpPr>
            <a:spLocks noChangeArrowheads="1"/>
          </p:cNvSpPr>
          <p:nvPr/>
        </p:nvSpPr>
        <p:spPr bwMode="auto">
          <a:xfrm>
            <a:off x="0" y="914400"/>
            <a:ext cx="9144000" cy="255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/>
            <a:r>
              <a:rPr lang="en-US" altLang="en-US" sz="2000">
                <a:latin typeface="Courier New" pitchFamily="49" charset="0"/>
              </a:rPr>
              <a:t>   /** </a:t>
            </a:r>
          </a:p>
          <a:p>
            <a:pPr algn="l" eaLnBrk="1" hangingPunct="1"/>
            <a:r>
              <a:rPr lang="en-US" altLang="en-US" sz="2000">
                <a:latin typeface="Courier New" pitchFamily="49" charset="0"/>
              </a:rPr>
              <a:t>      Formats this item. </a:t>
            </a:r>
            <a:br>
              <a:rPr lang="en-US" altLang="en-US" sz="2000"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      @return a formatted string of this line item </a:t>
            </a:r>
            <a:br>
              <a:rPr lang="en-US" altLang="en-US" sz="2000"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   */ </a:t>
            </a:r>
            <a:br>
              <a:rPr lang="en-US" altLang="en-US" sz="2000"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   public String format() </a:t>
            </a:r>
            <a:br>
              <a:rPr lang="en-US" altLang="en-US" sz="2000"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   { </a:t>
            </a:r>
            <a:br>
              <a:rPr lang="en-US" altLang="en-US" sz="2000"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   } </a:t>
            </a:r>
            <a:br>
              <a:rPr lang="en-US" altLang="en-US" sz="2000"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}</a:t>
            </a:r>
          </a:p>
        </p:txBody>
      </p:sp>
      <p:sp>
        <p:nvSpPr>
          <p:cNvPr id="53252" name="Text Box 4"/>
          <p:cNvSpPr txBox="1">
            <a:spLocks noChangeArrowheads="1"/>
          </p:cNvSpPr>
          <p:nvPr/>
        </p:nvSpPr>
        <p:spPr bwMode="auto">
          <a:xfrm>
            <a:off x="0" y="304800"/>
            <a:ext cx="800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/>
            <a:r>
              <a:rPr lang="en-US" altLang="en-US" sz="2400" b="1">
                <a:latin typeface="Lucida Sans" pitchFamily="34" charset="0"/>
              </a:rPr>
              <a:t>Method Documentation — </a:t>
            </a:r>
            <a:r>
              <a:rPr lang="en-US" altLang="en-US" sz="2400" b="1">
                <a:solidFill>
                  <a:srgbClr val="6E7069"/>
                </a:solidFill>
                <a:latin typeface="Courier New" pitchFamily="49" charset="0"/>
                <a:cs typeface="Courier New" pitchFamily="49" charset="0"/>
              </a:rPr>
              <a:t>LineItem</a:t>
            </a:r>
            <a:r>
              <a:rPr lang="en-US" altLang="en-US" sz="2400" b="1">
                <a:latin typeface="Lucida Sans" pitchFamily="34" charset="0"/>
                <a:cs typeface="Courier New" pitchFamily="49" charset="0"/>
              </a:rPr>
              <a:t> Class (cont.)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eaLnBrk="1" hangingPunct="1"/>
            <a:r>
              <a:rPr lang="en-US" altLang="en-US" i="1"/>
              <a:t>Big Java</a:t>
            </a:r>
            <a:r>
              <a:rPr lang="en-US" altLang="en-US"/>
              <a:t> by Cay Horstmann</a:t>
            </a:r>
          </a:p>
          <a:p>
            <a:pPr eaLnBrk="1" hangingPunct="1"/>
            <a:r>
              <a:rPr lang="en-US" altLang="en-US"/>
              <a:t>Copyright © 2009 by John Wiley &amp; Sons.  All rights reserved.</a:t>
            </a:r>
          </a:p>
        </p:txBody>
      </p:sp>
      <p:sp>
        <p:nvSpPr>
          <p:cNvPr id="54275" name="Rectangle 3"/>
          <p:cNvSpPr>
            <a:spLocks noChangeArrowheads="1"/>
          </p:cNvSpPr>
          <p:nvPr/>
        </p:nvSpPr>
        <p:spPr bwMode="auto">
          <a:xfrm>
            <a:off x="0" y="898525"/>
            <a:ext cx="9144000" cy="378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/>
            <a:r>
              <a:rPr lang="en-US" altLang="en-US" sz="2000">
                <a:latin typeface="Courier New" pitchFamily="49" charset="0"/>
              </a:rPr>
              <a:t>/** </a:t>
            </a:r>
            <a:br>
              <a:rPr lang="en-US" altLang="en-US" sz="2000"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   Describes a product with a description and a price. </a:t>
            </a:r>
            <a:br>
              <a:rPr lang="en-US" altLang="en-US" sz="2000"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*/ </a:t>
            </a:r>
            <a:br>
              <a:rPr lang="en-US" altLang="en-US" sz="2000"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   public class Product </a:t>
            </a:r>
            <a:br>
              <a:rPr lang="en-US" altLang="en-US" sz="2000"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{ </a:t>
            </a:r>
            <a:br>
              <a:rPr lang="en-US" altLang="en-US" sz="2000"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   /** </a:t>
            </a:r>
            <a:br>
              <a:rPr lang="en-US" altLang="en-US" sz="2000"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      Gets the product description. </a:t>
            </a:r>
            <a:br>
              <a:rPr lang="en-US" altLang="en-US" sz="2000"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      @return the description </a:t>
            </a:r>
            <a:br>
              <a:rPr lang="en-US" altLang="en-US" sz="2000"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   */ </a:t>
            </a:r>
            <a:br>
              <a:rPr lang="en-US" altLang="en-US" sz="2000"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   public String getDescription() </a:t>
            </a:r>
            <a:br>
              <a:rPr lang="en-US" altLang="en-US" sz="2000"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   { </a:t>
            </a:r>
            <a:br>
              <a:rPr lang="en-US" altLang="en-US" sz="2000"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   }</a:t>
            </a:r>
          </a:p>
        </p:txBody>
      </p:sp>
      <p:sp>
        <p:nvSpPr>
          <p:cNvPr id="54276" name="Text Box 4"/>
          <p:cNvSpPr txBox="1">
            <a:spLocks noChangeArrowheads="1"/>
          </p:cNvSpPr>
          <p:nvPr/>
        </p:nvSpPr>
        <p:spPr bwMode="auto">
          <a:xfrm>
            <a:off x="0" y="304800"/>
            <a:ext cx="701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/>
            <a:r>
              <a:rPr lang="en-US" altLang="en-US" sz="2400" b="1">
                <a:latin typeface="Lucida Sans" pitchFamily="34" charset="0"/>
              </a:rPr>
              <a:t>Method Documentation — </a:t>
            </a:r>
            <a:r>
              <a:rPr lang="en-US" altLang="en-US" sz="2400" b="1">
                <a:solidFill>
                  <a:srgbClr val="6E7069"/>
                </a:solidFill>
                <a:latin typeface="Courier New" pitchFamily="49" charset="0"/>
                <a:cs typeface="Courier New" pitchFamily="49" charset="0"/>
              </a:rPr>
              <a:t>Product</a:t>
            </a:r>
            <a:r>
              <a:rPr lang="en-US" altLang="en-US" sz="2400" b="1">
                <a:latin typeface="Lucida Sans" pitchFamily="34" charset="0"/>
                <a:cs typeface="Courier New" pitchFamily="49" charset="0"/>
              </a:rPr>
              <a:t> Class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7239000" y="5957888"/>
            <a:ext cx="1600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b="1" i="1"/>
              <a:t>Continued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eaLnBrk="1" hangingPunct="1"/>
            <a:r>
              <a:rPr lang="en-US" altLang="en-US" i="1"/>
              <a:t>Big Java</a:t>
            </a:r>
            <a:r>
              <a:rPr lang="en-US" altLang="en-US"/>
              <a:t> by Cay Horstmann</a:t>
            </a:r>
          </a:p>
          <a:p>
            <a:pPr eaLnBrk="1" hangingPunct="1"/>
            <a:r>
              <a:rPr lang="en-US" altLang="en-US"/>
              <a:t>Copyright © 2009 by John Wiley &amp; Sons.  All rights reserved.</a:t>
            </a:r>
          </a:p>
        </p:txBody>
      </p:sp>
      <p:sp>
        <p:nvSpPr>
          <p:cNvPr id="55299" name="Rectangle 3"/>
          <p:cNvSpPr>
            <a:spLocks noChangeArrowheads="1"/>
          </p:cNvSpPr>
          <p:nvPr/>
        </p:nvSpPr>
        <p:spPr bwMode="auto">
          <a:xfrm>
            <a:off x="0" y="914400"/>
            <a:ext cx="9144000" cy="255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/>
            <a:r>
              <a:rPr lang="en-US" altLang="en-US" sz="2000">
                <a:latin typeface="Courier New" pitchFamily="49" charset="0"/>
              </a:rPr>
              <a:t>   /** </a:t>
            </a:r>
            <a:br>
              <a:rPr lang="en-US" altLang="en-US" sz="2000"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      Gets the product price. </a:t>
            </a:r>
            <a:br>
              <a:rPr lang="en-US" altLang="en-US" sz="2000"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      @return the unit price </a:t>
            </a:r>
            <a:br>
              <a:rPr lang="en-US" altLang="en-US" sz="2000"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   */ </a:t>
            </a:r>
            <a:br>
              <a:rPr lang="en-US" altLang="en-US" sz="2000"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   public double getPrice() </a:t>
            </a:r>
            <a:br>
              <a:rPr lang="en-US" altLang="en-US" sz="2000"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   { </a:t>
            </a:r>
            <a:br>
              <a:rPr lang="en-US" altLang="en-US" sz="2000"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   } </a:t>
            </a:r>
            <a:br>
              <a:rPr lang="en-US" altLang="en-US" sz="2000"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}</a:t>
            </a:r>
          </a:p>
        </p:txBody>
      </p:sp>
      <p:sp>
        <p:nvSpPr>
          <p:cNvPr id="55300" name="Text Box 4"/>
          <p:cNvSpPr txBox="1">
            <a:spLocks noChangeArrowheads="1"/>
          </p:cNvSpPr>
          <p:nvPr/>
        </p:nvSpPr>
        <p:spPr bwMode="auto">
          <a:xfrm>
            <a:off x="0" y="304800"/>
            <a:ext cx="8839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/>
            <a:r>
              <a:rPr lang="en-US" altLang="en-US" sz="2400" b="1">
                <a:latin typeface="Lucida Sans" pitchFamily="34" charset="0"/>
              </a:rPr>
              <a:t>Method Documentation — </a:t>
            </a:r>
            <a:r>
              <a:rPr lang="en-US" altLang="en-US" sz="2400" b="1">
                <a:solidFill>
                  <a:srgbClr val="6E7069"/>
                </a:solidFill>
                <a:latin typeface="Courier New" pitchFamily="49" charset="0"/>
                <a:cs typeface="Courier New" pitchFamily="49" charset="0"/>
              </a:rPr>
              <a:t>Product</a:t>
            </a:r>
            <a:r>
              <a:rPr lang="en-US" altLang="en-US" sz="2400" b="1">
                <a:latin typeface="Lucida Sans" pitchFamily="34" charset="0"/>
                <a:cs typeface="Courier New" pitchFamily="49" charset="0"/>
              </a:rPr>
              <a:t> Class (cont.)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eaLnBrk="1" hangingPunct="1"/>
            <a:r>
              <a:rPr lang="en-US" altLang="en-US" i="1"/>
              <a:t>Big Java</a:t>
            </a:r>
            <a:r>
              <a:rPr lang="en-US" altLang="en-US"/>
              <a:t> by Cay Horstmann</a:t>
            </a:r>
          </a:p>
          <a:p>
            <a:pPr eaLnBrk="1" hangingPunct="1"/>
            <a:r>
              <a:rPr lang="en-US" altLang="en-US"/>
              <a:t>Copyright © 2009 by John Wiley &amp; Sons.  All rights reserved.</a:t>
            </a:r>
          </a:p>
        </p:txBody>
      </p:sp>
      <p:sp>
        <p:nvSpPr>
          <p:cNvPr id="56323" name="Rectangle 3"/>
          <p:cNvSpPr>
            <a:spLocks noChangeArrowheads="1"/>
          </p:cNvSpPr>
          <p:nvPr/>
        </p:nvSpPr>
        <p:spPr bwMode="auto">
          <a:xfrm>
            <a:off x="76200" y="898525"/>
            <a:ext cx="9005888" cy="405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/>
            <a:r>
              <a:rPr lang="en-US" altLang="en-US" sz="2000">
                <a:latin typeface="Courier New" pitchFamily="49" charset="0"/>
              </a:rPr>
              <a:t>/** </a:t>
            </a:r>
            <a:br>
              <a:rPr lang="en-US" altLang="en-US" sz="2000"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Describes a mailing address. </a:t>
            </a:r>
          </a:p>
          <a:p>
            <a:pPr algn="l" eaLnBrk="1" hangingPunct="1"/>
            <a:r>
              <a:rPr lang="en-US" altLang="en-US" sz="2000">
                <a:latin typeface="Courier New" pitchFamily="49" charset="0"/>
              </a:rPr>
              <a:t>*/ </a:t>
            </a:r>
            <a:br>
              <a:rPr lang="en-US" altLang="en-US" sz="2000"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public class Address </a:t>
            </a:r>
            <a:br>
              <a:rPr lang="en-US" altLang="en-US" sz="2000"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{ </a:t>
            </a:r>
            <a:br>
              <a:rPr lang="en-US" altLang="en-US" sz="2000"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   /** </a:t>
            </a:r>
            <a:br>
              <a:rPr lang="en-US" altLang="en-US" sz="2000"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      Formats the address. </a:t>
            </a:r>
            <a:br>
              <a:rPr lang="en-US" altLang="en-US" sz="2000"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      @return the address as a string with three lines </a:t>
            </a:r>
            <a:br>
              <a:rPr lang="en-US" altLang="en-US" sz="2000"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   */ </a:t>
            </a:r>
            <a:br>
              <a:rPr lang="en-US" altLang="en-US" sz="2000"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   public String format() </a:t>
            </a:r>
            <a:br>
              <a:rPr lang="en-US" altLang="en-US" sz="2000"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   { </a:t>
            </a:r>
            <a:br>
              <a:rPr lang="en-US" altLang="en-US" sz="2000"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   } </a:t>
            </a:r>
            <a:br>
              <a:rPr lang="en-US" altLang="en-US" sz="2000"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}</a:t>
            </a:r>
          </a:p>
        </p:txBody>
      </p:sp>
      <p:sp>
        <p:nvSpPr>
          <p:cNvPr id="56324" name="Text Box 4"/>
          <p:cNvSpPr txBox="1">
            <a:spLocks noChangeArrowheads="1"/>
          </p:cNvSpPr>
          <p:nvPr/>
        </p:nvSpPr>
        <p:spPr bwMode="auto">
          <a:xfrm>
            <a:off x="0" y="304800"/>
            <a:ext cx="701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/>
            <a:r>
              <a:rPr lang="en-US" altLang="en-US" sz="2400" b="1">
                <a:latin typeface="Lucida Sans" pitchFamily="34" charset="0"/>
              </a:rPr>
              <a:t>Method Documentation — </a:t>
            </a:r>
            <a:r>
              <a:rPr lang="en-US" altLang="en-US" sz="2400" b="1">
                <a:solidFill>
                  <a:srgbClr val="6E7069"/>
                </a:solidFill>
                <a:latin typeface="Courier New" pitchFamily="49" charset="0"/>
                <a:cs typeface="Courier New" pitchFamily="49" charset="0"/>
              </a:rPr>
              <a:t>Address</a:t>
            </a:r>
            <a:r>
              <a:rPr lang="en-US" altLang="en-US" sz="2400" b="1">
                <a:latin typeface="Lucida Sans" pitchFamily="34" charset="0"/>
                <a:cs typeface="Courier New" pitchFamily="49" charset="0"/>
              </a:rPr>
              <a:t> Class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eaLnBrk="1" hangingPunct="1"/>
            <a:r>
              <a:rPr lang="en-US" altLang="en-US" i="1"/>
              <a:t>Big Java</a:t>
            </a:r>
            <a:r>
              <a:rPr lang="en-US" altLang="en-US"/>
              <a:t> by Cay Horstmann</a:t>
            </a:r>
          </a:p>
          <a:p>
            <a:pPr eaLnBrk="1" hangingPunct="1"/>
            <a:r>
              <a:rPr lang="en-US" altLang="en-US"/>
              <a:t>Copyright © 2009 by John Wiley &amp; Sons.  All rights reserved.</a:t>
            </a:r>
          </a:p>
        </p:txBody>
      </p:sp>
      <p:sp>
        <p:nvSpPr>
          <p:cNvPr id="57347" name="Text Box 5"/>
          <p:cNvSpPr txBox="1">
            <a:spLocks noChangeArrowheads="1"/>
          </p:cNvSpPr>
          <p:nvPr/>
        </p:nvSpPr>
        <p:spPr bwMode="auto">
          <a:xfrm>
            <a:off x="0" y="304800"/>
            <a:ext cx="7848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/>
            <a:r>
              <a:rPr lang="en-US" altLang="en-US" sz="2400" b="1">
                <a:latin typeface="Lucida Sans" pitchFamily="34" charset="0"/>
              </a:rPr>
              <a:t>The Class Documentation in the HTML Format</a:t>
            </a:r>
          </a:p>
        </p:txBody>
      </p:sp>
      <p:pic>
        <p:nvPicPr>
          <p:cNvPr id="57348" name="Picture 5" descr="javadoc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914400"/>
            <a:ext cx="5257800" cy="557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eaLnBrk="1" hangingPunct="1"/>
            <a:r>
              <a:rPr lang="en-US" altLang="en-US" i="1"/>
              <a:t>Big Java</a:t>
            </a:r>
            <a:r>
              <a:rPr lang="en-US" altLang="en-US"/>
              <a:t> by Cay Horstmann</a:t>
            </a:r>
          </a:p>
          <a:p>
            <a:pPr eaLnBrk="1" hangingPunct="1"/>
            <a:r>
              <a:rPr lang="en-US" altLang="en-US"/>
              <a:t>Copyright © 2009 by John Wiley &amp; Sons.  All rights reserved.</a:t>
            </a:r>
          </a:p>
        </p:txBody>
      </p:sp>
      <p:sp>
        <p:nvSpPr>
          <p:cNvPr id="75780" name="Rectangle 3"/>
          <p:cNvSpPr>
            <a:spLocks noChangeArrowheads="1"/>
          </p:cNvSpPr>
          <p:nvPr/>
        </p:nvSpPr>
        <p:spPr bwMode="auto">
          <a:xfrm>
            <a:off x="0" y="914400"/>
            <a:ext cx="9144000" cy="1446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236538" indent="-236538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693738" indent="-236538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>
              <a:spcBef>
                <a:spcPts val="1200"/>
              </a:spcBef>
              <a:buFontTx/>
              <a:buChar char="•"/>
            </a:pPr>
            <a:r>
              <a:rPr lang="en-US" altLang="en-US" sz="2400"/>
              <a:t>The UML diagram will give instance variables </a:t>
            </a:r>
          </a:p>
          <a:p>
            <a:pPr algn="l" eaLnBrk="1" hangingPunct="1">
              <a:spcBef>
                <a:spcPts val="1200"/>
              </a:spcBef>
              <a:buFontTx/>
              <a:buChar char="•"/>
            </a:pPr>
            <a:r>
              <a:rPr lang="en-US" altLang="en-US" sz="2400"/>
              <a:t>Look for associated classes </a:t>
            </a:r>
          </a:p>
          <a:p>
            <a:pPr lvl="1" algn="l" eaLnBrk="1" hangingPunct="1">
              <a:spcBef>
                <a:spcPts val="1200"/>
              </a:spcBef>
              <a:buFontTx/>
              <a:buChar char="•"/>
            </a:pPr>
            <a:r>
              <a:rPr lang="en-US" altLang="en-US" sz="2000" i="1"/>
              <a:t>They yield instance variables </a:t>
            </a:r>
            <a:endParaRPr lang="en-US" altLang="en-US" sz="2000" b="1" i="1"/>
          </a:p>
        </p:txBody>
      </p:sp>
      <p:sp>
        <p:nvSpPr>
          <p:cNvPr id="58372" name="Text Box 4"/>
          <p:cNvSpPr txBox="1">
            <a:spLocks noChangeArrowheads="1"/>
          </p:cNvSpPr>
          <p:nvPr/>
        </p:nvSpPr>
        <p:spPr bwMode="auto">
          <a:xfrm>
            <a:off x="0" y="304800"/>
            <a:ext cx="701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/>
            <a:r>
              <a:rPr lang="en-US" altLang="en-US" sz="2400" b="1">
                <a:latin typeface="Lucida Sans" pitchFamily="34" charset="0"/>
              </a:rPr>
              <a:t>Printing an Invoice — Implementation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eaLnBrk="1" hangingPunct="1"/>
            <a:r>
              <a:rPr lang="en-US" altLang="en-US" i="1"/>
              <a:t>Big Java</a:t>
            </a:r>
            <a:r>
              <a:rPr lang="en-US" altLang="en-US"/>
              <a:t> by Cay Horstmann</a:t>
            </a:r>
          </a:p>
          <a:p>
            <a:pPr eaLnBrk="1" hangingPunct="1"/>
            <a:r>
              <a:rPr lang="en-US" altLang="en-US"/>
              <a:t>Copyright © 2009 by John Wiley &amp; Sons.  All rights reserved.</a:t>
            </a:r>
          </a:p>
        </p:txBody>
      </p:sp>
      <p:sp>
        <p:nvSpPr>
          <p:cNvPr id="76804" name="Rectangle 3"/>
          <p:cNvSpPr>
            <a:spLocks noChangeArrowheads="1"/>
          </p:cNvSpPr>
          <p:nvPr/>
        </p:nvSpPr>
        <p:spPr bwMode="auto">
          <a:xfrm>
            <a:off x="0" y="914400"/>
            <a:ext cx="9144000" cy="3662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36538" indent="-236538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693738" indent="-236538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400">
                <a:solidFill>
                  <a:srgbClr val="6E7069"/>
                </a:solidFill>
                <a:latin typeface="Courier New" pitchFamily="49" charset="0"/>
              </a:rPr>
              <a:t>Invoice</a:t>
            </a:r>
            <a:r>
              <a:rPr lang="en-US" altLang="en-US" sz="2400">
                <a:solidFill>
                  <a:srgbClr val="6E7069"/>
                </a:solidFill>
              </a:rPr>
              <a:t> </a:t>
            </a:r>
            <a:r>
              <a:rPr lang="en-US" altLang="en-US" sz="2400"/>
              <a:t>aggregates </a:t>
            </a:r>
            <a:r>
              <a:rPr lang="en-US" altLang="en-US" sz="2400">
                <a:solidFill>
                  <a:srgbClr val="6E7069"/>
                </a:solidFill>
                <a:latin typeface="Courier New" pitchFamily="49" charset="0"/>
              </a:rPr>
              <a:t>Address</a:t>
            </a:r>
            <a:r>
              <a:rPr lang="en-US" altLang="en-US" sz="2400"/>
              <a:t> and </a:t>
            </a:r>
            <a:r>
              <a:rPr lang="en-US" altLang="en-US" sz="2400">
                <a:solidFill>
                  <a:srgbClr val="6E7069"/>
                </a:solidFill>
                <a:latin typeface="Courier New" pitchFamily="49" charset="0"/>
              </a:rPr>
              <a:t>LineItem</a:t>
            </a:r>
            <a:r>
              <a:rPr lang="en-US" altLang="en-US" sz="2400"/>
              <a:t> </a:t>
            </a:r>
          </a:p>
          <a:p>
            <a:pPr algn="l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400"/>
              <a:t>Every invoice has one billing address </a:t>
            </a:r>
          </a:p>
          <a:p>
            <a:pPr algn="l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400"/>
              <a:t>An invoice can have many line items: </a:t>
            </a:r>
          </a:p>
          <a:p>
            <a:pPr lvl="1" algn="l" eaLnBrk="1" hangingPunct="1">
              <a:spcBef>
                <a:spcPct val="50000"/>
              </a:spcBef>
            </a:pPr>
            <a:r>
              <a:rPr lang="en-US" altLang="en-US" sz="2400">
                <a:latin typeface="Courier New" pitchFamily="49" charset="0"/>
              </a:rPr>
              <a:t>	</a:t>
            </a:r>
            <a: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  <a:t>public class Invoice </a:t>
            </a:r>
            <a:b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</a:br>
            <a: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  <a:t>{ </a:t>
            </a:r>
            <a:b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</a:br>
            <a: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  <a:t>   ... </a:t>
            </a:r>
            <a:b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</a:br>
            <a: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  <a:t>   private Address billingAddress; </a:t>
            </a:r>
            <a:b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</a:br>
            <a: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  <a:t>   private ArrayList&lt;LineItem&gt; items; </a:t>
            </a:r>
            <a:b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</a:br>
            <a: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  <a:t>}</a:t>
            </a:r>
          </a:p>
        </p:txBody>
      </p:sp>
      <p:sp>
        <p:nvSpPr>
          <p:cNvPr id="59396" name="Text Box 4"/>
          <p:cNvSpPr txBox="1">
            <a:spLocks noChangeArrowheads="1"/>
          </p:cNvSpPr>
          <p:nvPr/>
        </p:nvSpPr>
        <p:spPr bwMode="auto">
          <a:xfrm>
            <a:off x="0" y="304800"/>
            <a:ext cx="701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/>
            <a:r>
              <a:rPr lang="en-US" altLang="en-US" sz="2400" b="1">
                <a:latin typeface="Lucida Sans" pitchFamily="34" charset="0"/>
              </a:rPr>
              <a:t>Implementation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eaLnBrk="1" hangingPunct="1"/>
            <a:r>
              <a:rPr lang="en-US" altLang="en-US" i="1"/>
              <a:t>Big Java</a:t>
            </a:r>
            <a:r>
              <a:rPr lang="en-US" altLang="en-US"/>
              <a:t> by Cay Horstmann</a:t>
            </a:r>
          </a:p>
          <a:p>
            <a:pPr eaLnBrk="1" hangingPunct="1"/>
            <a:r>
              <a:rPr lang="en-US" altLang="en-US"/>
              <a:t>Copyright © 2009 by John Wiley &amp; Sons.  All rights reserved.</a:t>
            </a:r>
          </a:p>
        </p:txBody>
      </p:sp>
      <p:sp>
        <p:nvSpPr>
          <p:cNvPr id="60419" name="Rectangle 3"/>
          <p:cNvSpPr>
            <a:spLocks noChangeArrowheads="1"/>
          </p:cNvSpPr>
          <p:nvPr/>
        </p:nvSpPr>
        <p:spPr bwMode="auto">
          <a:xfrm>
            <a:off x="0" y="914400"/>
            <a:ext cx="9144000" cy="246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>
              <a:spcBef>
                <a:spcPts val="1200"/>
              </a:spcBef>
            </a:pPr>
            <a:r>
              <a:rPr lang="en-US" altLang="en-US" sz="2400"/>
              <a:t>A line item needs to store a </a:t>
            </a:r>
            <a:r>
              <a:rPr lang="en-US" altLang="en-US" sz="2400">
                <a:solidFill>
                  <a:srgbClr val="6E7069"/>
                </a:solidFill>
                <a:latin typeface="Courier New" pitchFamily="49" charset="0"/>
                <a:cs typeface="Courier New" pitchFamily="49" charset="0"/>
              </a:rPr>
              <a:t>Product </a:t>
            </a:r>
            <a:r>
              <a:rPr lang="en-US" altLang="en-US" sz="2400">
                <a:cs typeface="Courier New" pitchFamily="49" charset="0"/>
              </a:rPr>
              <a:t>object and quantity:</a:t>
            </a:r>
          </a:p>
          <a:p>
            <a:pPr lvl="1" algn="l" eaLnBrk="1" hangingPunct="1">
              <a:spcBef>
                <a:spcPts val="1200"/>
              </a:spcBef>
            </a:pPr>
            <a:r>
              <a:rPr lang="en-US" altLang="en-US" sz="2000">
                <a:solidFill>
                  <a:srgbClr val="6E7069"/>
                </a:solidFill>
                <a:latin typeface="Courier New" pitchFamily="49" charset="0"/>
                <a:cs typeface="Courier New" pitchFamily="49" charset="0"/>
              </a:rPr>
              <a:t>public class LineItem </a:t>
            </a:r>
            <a:br>
              <a:rPr lang="en-US" altLang="en-US" sz="2000">
                <a:solidFill>
                  <a:srgbClr val="6E7069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altLang="en-US" sz="2000">
                <a:solidFill>
                  <a:srgbClr val="6E7069"/>
                </a:solidFill>
                <a:latin typeface="Courier New" pitchFamily="49" charset="0"/>
                <a:cs typeface="Courier New" pitchFamily="49" charset="0"/>
              </a:rPr>
              <a:t>{ </a:t>
            </a:r>
            <a:br>
              <a:rPr lang="en-US" altLang="en-US" sz="2000">
                <a:solidFill>
                  <a:srgbClr val="6E7069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altLang="en-US" sz="2000">
                <a:solidFill>
                  <a:srgbClr val="6E7069"/>
                </a:solidFill>
                <a:latin typeface="Courier New" pitchFamily="49" charset="0"/>
                <a:cs typeface="Courier New" pitchFamily="49" charset="0"/>
              </a:rPr>
              <a:t>   ... </a:t>
            </a:r>
            <a:br>
              <a:rPr lang="en-US" altLang="en-US" sz="2000">
                <a:solidFill>
                  <a:srgbClr val="6E7069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altLang="en-US" sz="2000">
                <a:solidFill>
                  <a:srgbClr val="6E7069"/>
                </a:solidFill>
                <a:latin typeface="Courier New" pitchFamily="49" charset="0"/>
                <a:cs typeface="Courier New" pitchFamily="49" charset="0"/>
              </a:rPr>
              <a:t>   private int quantity; </a:t>
            </a:r>
            <a:br>
              <a:rPr lang="en-US" altLang="en-US" sz="2000">
                <a:solidFill>
                  <a:srgbClr val="6E7069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altLang="en-US" sz="2000">
                <a:solidFill>
                  <a:srgbClr val="6E7069"/>
                </a:solidFill>
                <a:latin typeface="Courier New" pitchFamily="49" charset="0"/>
                <a:cs typeface="Courier New" pitchFamily="49" charset="0"/>
              </a:rPr>
              <a:t>   private Product theProduct; </a:t>
            </a:r>
            <a:br>
              <a:rPr lang="en-US" altLang="en-US" sz="2000">
                <a:solidFill>
                  <a:srgbClr val="6E7069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altLang="en-US" sz="2000">
                <a:solidFill>
                  <a:srgbClr val="6E7069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en-US" altLang="en-US" sz="2000" b="1">
              <a:solidFill>
                <a:srgbClr val="6E7069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0420" name="Text Box 4"/>
          <p:cNvSpPr txBox="1">
            <a:spLocks noChangeArrowheads="1"/>
          </p:cNvSpPr>
          <p:nvPr/>
        </p:nvSpPr>
        <p:spPr bwMode="auto">
          <a:xfrm>
            <a:off x="0" y="304800"/>
            <a:ext cx="701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/>
            <a:r>
              <a:rPr lang="en-US" altLang="en-US" sz="2400" b="1">
                <a:latin typeface="Lucida Sans" pitchFamily="34" charset="0"/>
              </a:rPr>
              <a:t>Implementation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eaLnBrk="1" hangingPunct="1"/>
            <a:r>
              <a:rPr lang="en-US" altLang="en-US" i="1"/>
              <a:t>Big Java</a:t>
            </a:r>
            <a:r>
              <a:rPr lang="en-US" altLang="en-US"/>
              <a:t> by Cay Horstmann</a:t>
            </a:r>
          </a:p>
          <a:p>
            <a:pPr eaLnBrk="1" hangingPunct="1"/>
            <a:r>
              <a:rPr lang="en-US" altLang="en-US"/>
              <a:t>Copyright © 2009 by John Wiley &amp; Sons.  All rights reserved.</a:t>
            </a:r>
          </a:p>
        </p:txBody>
      </p:sp>
      <p:sp>
        <p:nvSpPr>
          <p:cNvPr id="78852" name="Rectangle 3"/>
          <p:cNvSpPr>
            <a:spLocks noChangeArrowheads="1"/>
          </p:cNvSpPr>
          <p:nvPr/>
        </p:nvSpPr>
        <p:spPr bwMode="auto">
          <a:xfrm>
            <a:off x="0" y="914400"/>
            <a:ext cx="9144000" cy="458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36538" indent="-236538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693738" indent="-236538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50938" indent="-236538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>
              <a:buFontTx/>
              <a:buChar char="•"/>
            </a:pPr>
            <a:r>
              <a:rPr lang="en-US" altLang="en-US" sz="2400"/>
              <a:t>The methods themselves are now very easy </a:t>
            </a:r>
          </a:p>
          <a:p>
            <a:pPr algn="l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400"/>
              <a:t>Example: </a:t>
            </a:r>
          </a:p>
          <a:p>
            <a:pPr lvl="1" algn="l" eaLnBrk="1" hangingPunct="1">
              <a:spcBef>
                <a:spcPts val="1200"/>
              </a:spcBef>
              <a:buFontTx/>
              <a:buChar char="•"/>
            </a:pPr>
            <a:r>
              <a:rPr lang="en-US" altLang="en-US" sz="2000" i="1">
                <a:solidFill>
                  <a:srgbClr val="6E7069"/>
                </a:solidFill>
                <a:latin typeface="Courier New" pitchFamily="49" charset="0"/>
              </a:rPr>
              <a:t>getTotalPrice</a:t>
            </a:r>
            <a:r>
              <a:rPr lang="en-US" altLang="en-US" sz="2400" i="1">
                <a:solidFill>
                  <a:srgbClr val="6E7069"/>
                </a:solidFill>
              </a:rPr>
              <a:t> </a:t>
            </a:r>
            <a:r>
              <a:rPr lang="en-US" altLang="en-US" sz="2400" i="1"/>
              <a:t>of </a:t>
            </a:r>
            <a:r>
              <a:rPr lang="en-US" altLang="en-US" sz="2000" i="1">
                <a:solidFill>
                  <a:srgbClr val="6E7069"/>
                </a:solidFill>
                <a:latin typeface="Courier New" pitchFamily="49" charset="0"/>
              </a:rPr>
              <a:t>LineItem</a:t>
            </a:r>
            <a:r>
              <a:rPr lang="en-US" altLang="en-US" sz="2400" i="1">
                <a:solidFill>
                  <a:srgbClr val="6E7069"/>
                </a:solidFill>
              </a:rPr>
              <a:t> </a:t>
            </a:r>
            <a:r>
              <a:rPr lang="en-US" altLang="en-US" sz="2400" i="1"/>
              <a:t>gets the unit price of the product and multiplies it with the quantity:</a:t>
            </a:r>
          </a:p>
          <a:p>
            <a:pPr lvl="2" algn="l" eaLnBrk="1" hangingPunct="1">
              <a:spcBef>
                <a:spcPts val="1200"/>
              </a:spcBef>
            </a:pPr>
            <a:r>
              <a:rPr lang="en-US" altLang="en-US" sz="2400" i="1">
                <a:latin typeface="Courier New" pitchFamily="49" charset="0"/>
              </a:rPr>
              <a:t>	</a:t>
            </a:r>
            <a: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  <a:t>/** </a:t>
            </a:r>
            <a:b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</a:br>
            <a: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  <a:t>   Computes the total cost of this line item. </a:t>
            </a:r>
            <a:b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</a:br>
            <a: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  <a:t>   @return the total price </a:t>
            </a:r>
            <a:b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</a:br>
            <a: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  <a:t>*/ </a:t>
            </a:r>
            <a:b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</a:br>
            <a: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  <a:t>public double getTotalPrice() </a:t>
            </a:r>
            <a:b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</a:br>
            <a: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  <a:t>{ </a:t>
            </a:r>
            <a:b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</a:br>
            <a: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  <a:t>   return theProduct.getPrice() * quantity; </a:t>
            </a:r>
            <a:b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</a:br>
            <a:r>
              <a:rPr lang="en-US" altLang="en-US" sz="2000">
                <a:solidFill>
                  <a:srgbClr val="6E7069"/>
                </a:solidFill>
                <a:latin typeface="Courier New" pitchFamily="49" charset="0"/>
              </a:rPr>
              <a:t>}</a:t>
            </a:r>
          </a:p>
        </p:txBody>
      </p:sp>
      <p:sp>
        <p:nvSpPr>
          <p:cNvPr id="61444" name="Text Box 4"/>
          <p:cNvSpPr txBox="1">
            <a:spLocks noChangeArrowheads="1"/>
          </p:cNvSpPr>
          <p:nvPr/>
        </p:nvSpPr>
        <p:spPr bwMode="auto">
          <a:xfrm>
            <a:off x="0" y="304800"/>
            <a:ext cx="701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/>
            <a:r>
              <a:rPr lang="en-US" altLang="en-US" sz="2400" b="1">
                <a:latin typeface="Lucida Sans" pitchFamily="34" charset="0"/>
              </a:rPr>
              <a:t>Implementation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eaLnBrk="1" hangingPunct="1"/>
            <a:r>
              <a:rPr lang="en-US" altLang="en-US" i="1"/>
              <a:t>Big Java</a:t>
            </a:r>
            <a:r>
              <a:rPr lang="en-US" altLang="en-US"/>
              <a:t> by Cay Horstmann</a:t>
            </a:r>
          </a:p>
          <a:p>
            <a:pPr eaLnBrk="1" hangingPunct="1"/>
            <a:r>
              <a:rPr lang="en-US" altLang="en-US"/>
              <a:t>Copyright © 2009 by John Wiley &amp; Sons.  All rights reserved.</a:t>
            </a:r>
          </a:p>
        </p:txBody>
      </p:sp>
      <p:sp>
        <p:nvSpPr>
          <p:cNvPr id="62467" name="Rectangle 3"/>
          <p:cNvSpPr>
            <a:spLocks noChangeArrowheads="1"/>
          </p:cNvSpPr>
          <p:nvPr/>
        </p:nvSpPr>
        <p:spPr bwMode="auto">
          <a:xfrm>
            <a:off x="0" y="304800"/>
            <a:ext cx="247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/>
            <a:r>
              <a:rPr lang="en-US" altLang="en-US"/>
              <a:t> </a:t>
            </a:r>
          </a:p>
        </p:txBody>
      </p:sp>
      <p:sp>
        <p:nvSpPr>
          <p:cNvPr id="62468" name="Text Box 4"/>
          <p:cNvSpPr txBox="1">
            <a:spLocks noChangeArrowheads="1"/>
          </p:cNvSpPr>
          <p:nvPr/>
        </p:nvSpPr>
        <p:spPr bwMode="auto">
          <a:xfrm>
            <a:off x="0" y="304800"/>
            <a:ext cx="701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/>
            <a:r>
              <a:rPr lang="en-US" altLang="en-US" sz="2400" b="1">
                <a:latin typeface="Lucida Sans" pitchFamily="34" charset="0"/>
              </a:rPr>
              <a:t>ch11/invoice/InvoicePrinter.java</a:t>
            </a:r>
          </a:p>
        </p:txBody>
      </p:sp>
      <p:sp>
        <p:nvSpPr>
          <p:cNvPr id="62469" name="Rectangle 5"/>
          <p:cNvSpPr>
            <a:spLocks noChangeArrowheads="1"/>
          </p:cNvSpPr>
          <p:nvPr/>
        </p:nvSpPr>
        <p:spPr bwMode="auto">
          <a:xfrm>
            <a:off x="0" y="884238"/>
            <a:ext cx="9144000" cy="575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 1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/**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 2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en-US" sz="1600">
                <a:solidFill>
                  <a:srgbClr val="0073FF"/>
                </a:solidFill>
                <a:latin typeface="Times New Roman" pitchFamily="18" charset="0"/>
                <a:cs typeface="Times New Roman" pitchFamily="18" charset="0"/>
              </a:rPr>
              <a:t>This program demonstrates the invoice classes by printing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 3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en-US" sz="1600">
                <a:solidFill>
                  <a:srgbClr val="0073FF"/>
                </a:solidFill>
                <a:latin typeface="Times New Roman" pitchFamily="18" charset="0"/>
                <a:cs typeface="Times New Roman" pitchFamily="18" charset="0"/>
              </a:rPr>
              <a:t>a sample invoice.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 4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*/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 5  </a:t>
            </a:r>
            <a:r>
              <a:rPr lang="en-US" altLang="en-US" sz="1600">
                <a:solidFill>
                  <a:srgbClr val="CC0066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1600">
                <a:solidFill>
                  <a:srgbClr val="CC0066"/>
                </a:solidFill>
                <a:latin typeface="Courier New" pitchFamily="49" charset="0"/>
                <a:cs typeface="Courier New" pitchFamily="49" charset="0"/>
              </a:rPr>
              <a:t>class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InvoicePrinter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 6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{  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 7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en-US" sz="1600">
                <a:solidFill>
                  <a:srgbClr val="CC0066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1600">
                <a:solidFill>
                  <a:srgbClr val="CC0066"/>
                </a:solidFill>
                <a:latin typeface="Courier New" pitchFamily="49" charset="0"/>
                <a:cs typeface="Courier New" pitchFamily="49" charset="0"/>
              </a:rPr>
              <a:t>static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1600">
                <a:solidFill>
                  <a:srgbClr val="CC0066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main(String[] args)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 8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{  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 9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Address samsAddress 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10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      = </a:t>
            </a:r>
            <a:r>
              <a:rPr lang="en-US" altLang="en-US" sz="1600">
                <a:solidFill>
                  <a:srgbClr val="CC0066"/>
                </a:solidFill>
                <a:latin typeface="Courier New" pitchFamily="49" charset="0"/>
                <a:cs typeface="Courier New" pitchFamily="49" charset="0"/>
              </a:rPr>
              <a:t>new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Address(</a:t>
            </a:r>
            <a:r>
              <a:rPr lang="en-US" altLang="en-US" sz="1600">
                <a:solidFill>
                  <a:srgbClr val="32E598"/>
                </a:solidFill>
                <a:latin typeface="Courier New" pitchFamily="49" charset="0"/>
                <a:cs typeface="Courier New" pitchFamily="49" charset="0"/>
              </a:rPr>
              <a:t>"Sam&amp;apos;s Small Appliances"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,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11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         </a:t>
            </a:r>
            <a:r>
              <a:rPr lang="en-US" altLang="en-US" sz="1600">
                <a:solidFill>
                  <a:srgbClr val="32E598"/>
                </a:solidFill>
                <a:latin typeface="Courier New" pitchFamily="49" charset="0"/>
                <a:cs typeface="Courier New" pitchFamily="49" charset="0"/>
              </a:rPr>
              <a:t>"100 Main Street", "Anytown", "CA", "98765"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12  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13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Invoice samsInvoice = </a:t>
            </a:r>
            <a:r>
              <a:rPr lang="en-US" altLang="en-US" sz="1600">
                <a:solidFill>
                  <a:srgbClr val="CC0066"/>
                </a:solidFill>
                <a:latin typeface="Courier New" pitchFamily="49" charset="0"/>
                <a:cs typeface="Courier New" pitchFamily="49" charset="0"/>
              </a:rPr>
              <a:t>new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Invoice(samsAddress);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14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samsInvoice.add(</a:t>
            </a:r>
            <a:r>
              <a:rPr lang="en-US" altLang="en-US" sz="1600">
                <a:solidFill>
                  <a:srgbClr val="CC0066"/>
                </a:solidFill>
                <a:latin typeface="Courier New" pitchFamily="49" charset="0"/>
                <a:cs typeface="Courier New" pitchFamily="49" charset="0"/>
              </a:rPr>
              <a:t>new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Product(</a:t>
            </a:r>
            <a:r>
              <a:rPr lang="en-US" altLang="en-US" sz="1600">
                <a:solidFill>
                  <a:srgbClr val="32E598"/>
                </a:solidFill>
                <a:latin typeface="Courier New" pitchFamily="49" charset="0"/>
                <a:cs typeface="Courier New" pitchFamily="49" charset="0"/>
              </a:rPr>
              <a:t>"Toaster"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altLang="en-US" sz="1600">
                <a:solidFill>
                  <a:srgbClr val="66FF19"/>
                </a:solidFill>
                <a:latin typeface="Courier New" pitchFamily="49" charset="0"/>
                <a:cs typeface="Courier New" pitchFamily="49" charset="0"/>
              </a:rPr>
              <a:t>29.95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), </a:t>
            </a:r>
            <a:r>
              <a:rPr lang="en-US" altLang="en-US" sz="1600">
                <a:solidFill>
                  <a:srgbClr val="66FF19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15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samsInvoice.add(</a:t>
            </a:r>
            <a:r>
              <a:rPr lang="en-US" altLang="en-US" sz="1600">
                <a:solidFill>
                  <a:srgbClr val="CC0066"/>
                </a:solidFill>
                <a:latin typeface="Courier New" pitchFamily="49" charset="0"/>
                <a:cs typeface="Courier New" pitchFamily="49" charset="0"/>
              </a:rPr>
              <a:t>new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Product(</a:t>
            </a:r>
            <a:r>
              <a:rPr lang="en-US" altLang="en-US" sz="1600">
                <a:solidFill>
                  <a:srgbClr val="32E598"/>
                </a:solidFill>
                <a:latin typeface="Courier New" pitchFamily="49" charset="0"/>
                <a:cs typeface="Courier New" pitchFamily="49" charset="0"/>
              </a:rPr>
              <a:t>"Hair dryer"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altLang="en-US" sz="1600">
                <a:solidFill>
                  <a:srgbClr val="66FF19"/>
                </a:solidFill>
                <a:latin typeface="Courier New" pitchFamily="49" charset="0"/>
                <a:cs typeface="Courier New" pitchFamily="49" charset="0"/>
              </a:rPr>
              <a:t>24.95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), </a:t>
            </a:r>
            <a:r>
              <a:rPr lang="en-US" altLang="en-US" sz="1600">
                <a:solidFill>
                  <a:srgbClr val="66FF19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16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samsInvoice.add(</a:t>
            </a:r>
            <a:r>
              <a:rPr lang="en-US" altLang="en-US" sz="1600">
                <a:solidFill>
                  <a:srgbClr val="CC0066"/>
                </a:solidFill>
                <a:latin typeface="Courier New" pitchFamily="49" charset="0"/>
                <a:cs typeface="Courier New" pitchFamily="49" charset="0"/>
              </a:rPr>
              <a:t>new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Product(</a:t>
            </a:r>
            <a:r>
              <a:rPr lang="en-US" altLang="en-US" sz="1600">
                <a:solidFill>
                  <a:srgbClr val="32E598"/>
                </a:solidFill>
                <a:latin typeface="Courier New" pitchFamily="49" charset="0"/>
                <a:cs typeface="Courier New" pitchFamily="49" charset="0"/>
              </a:rPr>
              <a:t>"Car vacuum"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altLang="en-US" sz="1600">
                <a:solidFill>
                  <a:srgbClr val="66FF19"/>
                </a:solidFill>
                <a:latin typeface="Courier New" pitchFamily="49" charset="0"/>
                <a:cs typeface="Courier New" pitchFamily="49" charset="0"/>
              </a:rPr>
              <a:t>19.99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), </a:t>
            </a:r>
            <a:r>
              <a:rPr lang="en-US" altLang="en-US" sz="1600">
                <a:solidFill>
                  <a:srgbClr val="66FF19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17  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18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System.out.println(samsInvoice.format());           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19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}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20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21  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22  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23 </a:t>
            </a:r>
            <a:endParaRPr lang="en-US" altLang="en-US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eaLnBrk="1" hangingPunct="1"/>
            <a:r>
              <a:rPr lang="en-US" altLang="en-US" i="1"/>
              <a:t>Big Java</a:t>
            </a:r>
            <a:r>
              <a:rPr lang="en-US" altLang="en-US"/>
              <a:t> by Cay Horstmann</a:t>
            </a:r>
          </a:p>
          <a:p>
            <a:pPr eaLnBrk="1" hangingPunct="1"/>
            <a:r>
              <a:rPr lang="en-US" altLang="en-US"/>
              <a:t>Copyright © 2009 by John Wiley &amp; Sons.  All rights reserved.</a:t>
            </a:r>
          </a:p>
        </p:txBody>
      </p:sp>
      <p:sp>
        <p:nvSpPr>
          <p:cNvPr id="63491" name="Text Box 4"/>
          <p:cNvSpPr txBox="1">
            <a:spLocks noChangeArrowheads="1"/>
          </p:cNvSpPr>
          <p:nvPr/>
        </p:nvSpPr>
        <p:spPr bwMode="auto">
          <a:xfrm>
            <a:off x="0" y="304800"/>
            <a:ext cx="701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/>
            <a:r>
              <a:rPr lang="en-US" altLang="en-US" sz="2400" b="1">
                <a:latin typeface="Lucida Sans" pitchFamily="34" charset="0"/>
              </a:rPr>
              <a:t>ch11/invoice/Invoice.java</a:t>
            </a:r>
          </a:p>
        </p:txBody>
      </p:sp>
      <p:sp>
        <p:nvSpPr>
          <p:cNvPr id="63492" name="Rectangle 5"/>
          <p:cNvSpPr>
            <a:spLocks noChangeArrowheads="1"/>
          </p:cNvSpPr>
          <p:nvPr/>
        </p:nvSpPr>
        <p:spPr bwMode="auto">
          <a:xfrm>
            <a:off x="0" y="914400"/>
            <a:ext cx="9144000" cy="501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 1  </a:t>
            </a:r>
            <a:r>
              <a:rPr lang="en-US" altLang="en-US" sz="1600">
                <a:solidFill>
                  <a:srgbClr val="CC0066"/>
                </a:solidFill>
                <a:latin typeface="Courier New" pitchFamily="49" charset="0"/>
                <a:cs typeface="Courier New" pitchFamily="49" charset="0"/>
              </a:rPr>
              <a:t>import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java.util.ArrayList;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 2  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 3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/**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 4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en-US" sz="1600">
                <a:solidFill>
                  <a:srgbClr val="0073FF"/>
                </a:solidFill>
                <a:latin typeface="Times New Roman" pitchFamily="18" charset="0"/>
                <a:cs typeface="Times New Roman" pitchFamily="18" charset="0"/>
              </a:rPr>
              <a:t>Describes an invoice for a set of purchased products.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 5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*/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 6  </a:t>
            </a:r>
            <a:r>
              <a:rPr lang="en-US" altLang="en-US" sz="1600">
                <a:solidFill>
                  <a:srgbClr val="CC0066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1600">
                <a:solidFill>
                  <a:srgbClr val="CC0066"/>
                </a:solidFill>
                <a:latin typeface="Courier New" pitchFamily="49" charset="0"/>
                <a:cs typeface="Courier New" pitchFamily="49" charset="0"/>
              </a:rPr>
              <a:t>class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Invoice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 7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{  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 8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en-US" sz="1600">
                <a:solidFill>
                  <a:srgbClr val="CC0066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Address billingAddress;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 9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en-US" sz="1600">
                <a:solidFill>
                  <a:srgbClr val="CC0066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ArrayList&lt;LineItem&gt; items;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10  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11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/**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12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en-US" sz="1600">
                <a:solidFill>
                  <a:srgbClr val="0073FF"/>
                </a:solidFill>
                <a:latin typeface="Times New Roman" pitchFamily="18" charset="0"/>
                <a:cs typeface="Times New Roman" pitchFamily="18" charset="0"/>
              </a:rPr>
              <a:t>Constructs an invoice.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13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@param anAddress</a:t>
            </a:r>
            <a:r>
              <a:rPr lang="en-US" altLang="en-US" sz="1600">
                <a:solidFill>
                  <a:srgbClr val="0073FF"/>
                </a:solidFill>
                <a:latin typeface="Times New Roman" pitchFamily="18" charset="0"/>
                <a:cs typeface="Times New Roman" pitchFamily="18" charset="0"/>
              </a:rPr>
              <a:t> the billing address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14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*/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15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en-US" sz="1600">
                <a:solidFill>
                  <a:srgbClr val="CC0066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Invoice(Address anAddress)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16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{  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17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items = </a:t>
            </a:r>
            <a:r>
              <a:rPr lang="en-US" altLang="en-US" sz="1600">
                <a:solidFill>
                  <a:srgbClr val="CC0066"/>
                </a:solidFill>
                <a:latin typeface="Courier New" pitchFamily="49" charset="0"/>
                <a:cs typeface="Courier New" pitchFamily="49" charset="0"/>
              </a:rPr>
              <a:t>new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ArrayList&lt;LineItem&gt;();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18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billingAddress = anAddress;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19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}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20 </a:t>
            </a:r>
            <a:endParaRPr lang="en-US" altLang="en-US" sz="1600">
              <a:solidFill>
                <a:srgbClr val="7A9ECD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7239000" y="5957888"/>
            <a:ext cx="1600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b="1" i="1"/>
              <a:t>Continued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eaLnBrk="1" hangingPunct="1"/>
            <a:r>
              <a:rPr lang="en-US" altLang="en-US" i="1"/>
              <a:t>Big Java</a:t>
            </a:r>
            <a:r>
              <a:rPr lang="en-US" altLang="en-US"/>
              <a:t> by Cay Horstmann</a:t>
            </a:r>
          </a:p>
          <a:p>
            <a:pPr eaLnBrk="1" hangingPunct="1"/>
            <a:r>
              <a:rPr lang="en-US" altLang="en-US"/>
              <a:t>Copyright © 2009 by John Wiley &amp; Sons.  All rights reserved.</a:t>
            </a:r>
          </a:p>
        </p:txBody>
      </p:sp>
      <p:sp>
        <p:nvSpPr>
          <p:cNvPr id="64515" name="Text Box 4"/>
          <p:cNvSpPr txBox="1">
            <a:spLocks noChangeArrowheads="1"/>
          </p:cNvSpPr>
          <p:nvPr/>
        </p:nvSpPr>
        <p:spPr bwMode="auto">
          <a:xfrm>
            <a:off x="0" y="304800"/>
            <a:ext cx="701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/>
            <a:r>
              <a:rPr lang="en-US" altLang="en-US" sz="2400" b="1">
                <a:latin typeface="Lucida Sans" pitchFamily="34" charset="0"/>
              </a:rPr>
              <a:t>ch11/invoice/Invoice.java (cont.)</a:t>
            </a:r>
          </a:p>
        </p:txBody>
      </p:sp>
      <p:sp>
        <p:nvSpPr>
          <p:cNvPr id="64516" name="Rectangle 5"/>
          <p:cNvSpPr>
            <a:spLocks noChangeArrowheads="1"/>
          </p:cNvSpPr>
          <p:nvPr/>
        </p:nvSpPr>
        <p:spPr bwMode="auto">
          <a:xfrm>
            <a:off x="0" y="914400"/>
            <a:ext cx="9144000" cy="280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21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/**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22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en-US" sz="1600">
                <a:solidFill>
                  <a:srgbClr val="0073FF"/>
                </a:solidFill>
                <a:latin typeface="Times New Roman" pitchFamily="18" charset="0"/>
                <a:cs typeface="Times New Roman" pitchFamily="18" charset="0"/>
              </a:rPr>
              <a:t>Adds a charge for a product to this invoice.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23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@param aProduct</a:t>
            </a:r>
            <a:r>
              <a:rPr lang="en-US" altLang="en-US" sz="1600">
                <a:solidFill>
                  <a:srgbClr val="0073FF"/>
                </a:solidFill>
                <a:latin typeface="Times New Roman" pitchFamily="18" charset="0"/>
                <a:cs typeface="Times New Roman" pitchFamily="18" charset="0"/>
              </a:rPr>
              <a:t> the product that the customer ordered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24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@param quantity</a:t>
            </a:r>
            <a:r>
              <a:rPr lang="en-US" altLang="en-US" sz="1600">
                <a:solidFill>
                  <a:srgbClr val="0073FF"/>
                </a:solidFill>
                <a:latin typeface="Times New Roman" pitchFamily="18" charset="0"/>
                <a:cs typeface="Times New Roman" pitchFamily="18" charset="0"/>
              </a:rPr>
              <a:t> the quantity of the product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25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*/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26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en-US" sz="1600">
                <a:solidFill>
                  <a:srgbClr val="CC0066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1600">
                <a:solidFill>
                  <a:srgbClr val="CC0066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add(Product aProduct, </a:t>
            </a:r>
            <a:r>
              <a:rPr lang="en-US" altLang="en-US" sz="1600">
                <a:solidFill>
                  <a:srgbClr val="CC0066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quantity)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27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{  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28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LineItem anItem = </a:t>
            </a:r>
            <a:r>
              <a:rPr lang="en-US" altLang="en-US" sz="1600">
                <a:solidFill>
                  <a:srgbClr val="CC0066"/>
                </a:solidFill>
                <a:latin typeface="Courier New" pitchFamily="49" charset="0"/>
                <a:cs typeface="Courier New" pitchFamily="49" charset="0"/>
              </a:rPr>
              <a:t>new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LineItem(aProduct, quantity);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29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items.add(anItem);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30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}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31 </a:t>
            </a:r>
            <a:endParaRPr lang="en-US" altLang="en-US" sz="160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7239000" y="5957888"/>
            <a:ext cx="1600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b="1" i="1"/>
              <a:t>Continued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eaLnBrk="1" hangingPunct="1"/>
            <a:r>
              <a:rPr lang="en-US" altLang="en-US" i="1"/>
              <a:t>Big Java</a:t>
            </a:r>
            <a:r>
              <a:rPr lang="en-US" altLang="en-US"/>
              <a:t> by Cay Horstmann</a:t>
            </a:r>
          </a:p>
          <a:p>
            <a:pPr eaLnBrk="1" hangingPunct="1"/>
            <a:r>
              <a:rPr lang="en-US" altLang="en-US"/>
              <a:t>Copyright © 2009 by John Wiley &amp; Sons.  All rights reserved.</a:t>
            </a:r>
          </a:p>
        </p:txBody>
      </p:sp>
      <p:sp>
        <p:nvSpPr>
          <p:cNvPr id="65539" name="Text Box 4"/>
          <p:cNvSpPr txBox="1">
            <a:spLocks noChangeArrowheads="1"/>
          </p:cNvSpPr>
          <p:nvPr/>
        </p:nvSpPr>
        <p:spPr bwMode="auto">
          <a:xfrm>
            <a:off x="0" y="304800"/>
            <a:ext cx="701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/>
            <a:r>
              <a:rPr lang="en-US" altLang="en-US" sz="2400" b="1">
                <a:latin typeface="Lucida Sans" pitchFamily="34" charset="0"/>
              </a:rPr>
              <a:t>ch11/invoice/Invoice.java (cont.)</a:t>
            </a:r>
          </a:p>
        </p:txBody>
      </p:sp>
      <p:sp>
        <p:nvSpPr>
          <p:cNvPr id="65540" name="Rectangle 5"/>
          <p:cNvSpPr>
            <a:spLocks noChangeArrowheads="1"/>
          </p:cNvSpPr>
          <p:nvPr/>
        </p:nvSpPr>
        <p:spPr bwMode="auto">
          <a:xfrm>
            <a:off x="0" y="914400"/>
            <a:ext cx="9144000" cy="526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32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/**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33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en-US" sz="1600">
                <a:solidFill>
                  <a:srgbClr val="0073FF"/>
                </a:solidFill>
                <a:latin typeface="Times New Roman" pitchFamily="18" charset="0"/>
                <a:cs typeface="Times New Roman" pitchFamily="18" charset="0"/>
              </a:rPr>
              <a:t>Formats the invoice.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34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@return</a:t>
            </a:r>
            <a:r>
              <a:rPr lang="en-US" altLang="en-US" sz="1600">
                <a:solidFill>
                  <a:srgbClr val="0073FF"/>
                </a:solidFill>
                <a:latin typeface="Times New Roman" pitchFamily="18" charset="0"/>
                <a:cs typeface="Times New Roman" pitchFamily="18" charset="0"/>
              </a:rPr>
              <a:t> the formatted invoice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35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*/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36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en-US" sz="1600">
                <a:solidFill>
                  <a:srgbClr val="CC0066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String format()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37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{  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38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String r =  </a:t>
            </a:r>
            <a:r>
              <a:rPr lang="en-US" altLang="en-US" sz="1600">
                <a:solidFill>
                  <a:srgbClr val="32E598"/>
                </a:solidFill>
                <a:latin typeface="Courier New" pitchFamily="49" charset="0"/>
                <a:cs typeface="Courier New" pitchFamily="49" charset="0"/>
              </a:rPr>
              <a:t>"                     I N V O I C E\n\n"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39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      + billingAddress.format()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40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      + String.format(</a:t>
            </a:r>
            <a:r>
              <a:rPr lang="en-US" altLang="en-US" sz="1600">
                <a:solidFill>
                  <a:srgbClr val="32E598"/>
                </a:solidFill>
                <a:latin typeface="Courier New" pitchFamily="49" charset="0"/>
                <a:cs typeface="Courier New" pitchFamily="49" charset="0"/>
              </a:rPr>
              <a:t>"\n\n%-30s%8s%5s%8s\n"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,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41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         </a:t>
            </a:r>
            <a:r>
              <a:rPr lang="en-US" altLang="en-US" sz="1600">
                <a:solidFill>
                  <a:srgbClr val="32E598"/>
                </a:solidFill>
                <a:latin typeface="Courier New" pitchFamily="49" charset="0"/>
                <a:cs typeface="Courier New" pitchFamily="49" charset="0"/>
              </a:rPr>
              <a:t>"Description", "Price", "Qty", "Total"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42  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43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en-US" sz="1600">
                <a:solidFill>
                  <a:srgbClr val="CC0066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(LineItem item : items)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44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{  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45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   r = r + item.format() + </a:t>
            </a:r>
            <a:r>
              <a:rPr lang="en-US" altLang="en-US" sz="1600">
                <a:solidFill>
                  <a:srgbClr val="32E598"/>
                </a:solidFill>
                <a:latin typeface="Courier New" pitchFamily="49" charset="0"/>
                <a:cs typeface="Courier New" pitchFamily="49" charset="0"/>
              </a:rPr>
              <a:t>"\n"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46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}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47  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48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r = r + String.format(</a:t>
            </a:r>
            <a:r>
              <a:rPr lang="en-US" altLang="en-US" sz="1600">
                <a:solidFill>
                  <a:srgbClr val="32E598"/>
                </a:solidFill>
                <a:latin typeface="Courier New" pitchFamily="49" charset="0"/>
                <a:cs typeface="Courier New" pitchFamily="49" charset="0"/>
              </a:rPr>
              <a:t>"\nAMOUNT DUE: $%8.2f"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, getAmountDue());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49  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50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en-US" sz="1600">
                <a:solidFill>
                  <a:srgbClr val="CC0066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r;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51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}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52 </a:t>
            </a:r>
            <a:endParaRPr lang="en-US" altLang="en-US" sz="160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7239000" y="5957888"/>
            <a:ext cx="1600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b="1" i="1"/>
              <a:t>Continued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eaLnBrk="1" hangingPunct="1"/>
            <a:r>
              <a:rPr lang="en-US" altLang="en-US" i="1"/>
              <a:t>Big Java</a:t>
            </a:r>
            <a:r>
              <a:rPr lang="en-US" altLang="en-US"/>
              <a:t> by Cay Horstmann</a:t>
            </a:r>
          </a:p>
          <a:p>
            <a:pPr eaLnBrk="1" hangingPunct="1"/>
            <a:r>
              <a:rPr lang="en-US" altLang="en-US"/>
              <a:t>Copyright © 2009 by John Wiley &amp; Sons.  All rights reserved.</a:t>
            </a:r>
          </a:p>
        </p:txBody>
      </p:sp>
      <p:sp>
        <p:nvSpPr>
          <p:cNvPr id="66563" name="Text Box 4"/>
          <p:cNvSpPr txBox="1">
            <a:spLocks noChangeArrowheads="1"/>
          </p:cNvSpPr>
          <p:nvPr/>
        </p:nvSpPr>
        <p:spPr bwMode="auto">
          <a:xfrm>
            <a:off x="0" y="304800"/>
            <a:ext cx="701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/>
            <a:r>
              <a:rPr lang="en-US" altLang="en-US" sz="2400" b="1">
                <a:latin typeface="Lucida Sans" pitchFamily="34" charset="0"/>
              </a:rPr>
              <a:t>ch11/invoice/Invoice.java (cont.)</a:t>
            </a:r>
          </a:p>
        </p:txBody>
      </p:sp>
      <p:sp>
        <p:nvSpPr>
          <p:cNvPr id="66564" name="Rectangle 5"/>
          <p:cNvSpPr>
            <a:spLocks noChangeArrowheads="1"/>
          </p:cNvSpPr>
          <p:nvPr/>
        </p:nvSpPr>
        <p:spPr bwMode="auto">
          <a:xfrm>
            <a:off x="0" y="914400"/>
            <a:ext cx="9144000" cy="354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53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/**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54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en-US" sz="1600">
                <a:solidFill>
                  <a:srgbClr val="0073FF"/>
                </a:solidFill>
                <a:latin typeface="Times New Roman" pitchFamily="18" charset="0"/>
                <a:cs typeface="Times New Roman" pitchFamily="18" charset="0"/>
              </a:rPr>
              <a:t>Computes the total amount due.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55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@return</a:t>
            </a:r>
            <a:r>
              <a:rPr lang="en-US" altLang="en-US" sz="1600">
                <a:solidFill>
                  <a:srgbClr val="0073FF"/>
                </a:solidFill>
                <a:latin typeface="Times New Roman" pitchFamily="18" charset="0"/>
                <a:cs typeface="Times New Roman" pitchFamily="18" charset="0"/>
              </a:rPr>
              <a:t> the amount due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56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*/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57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en-US" sz="1600">
                <a:solidFill>
                  <a:srgbClr val="CC0066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1600">
                <a:solidFill>
                  <a:srgbClr val="CC0066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getAmountDue()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58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{  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59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en-US" sz="1600">
                <a:solidFill>
                  <a:srgbClr val="CC0066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amountDue = </a:t>
            </a:r>
            <a:r>
              <a:rPr lang="en-US" altLang="en-US" sz="1600">
                <a:solidFill>
                  <a:srgbClr val="66FF19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60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en-US" sz="1600">
                <a:solidFill>
                  <a:srgbClr val="CC0066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(LineItem item : items)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61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{  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62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   amountDue = amountDue + item.getTotalPrice();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63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}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64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en-US" sz="1600">
                <a:solidFill>
                  <a:srgbClr val="CC0066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amountDue;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65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}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66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eaLnBrk="1" hangingPunct="1"/>
            <a:r>
              <a:rPr lang="en-US" altLang="en-US" i="1"/>
              <a:t>Big Java</a:t>
            </a:r>
            <a:r>
              <a:rPr lang="en-US" altLang="en-US"/>
              <a:t> by Cay Horstmann</a:t>
            </a:r>
          </a:p>
          <a:p>
            <a:pPr eaLnBrk="1" hangingPunct="1"/>
            <a:r>
              <a:rPr lang="en-US" altLang="en-US"/>
              <a:t>Copyright © 2009 by John Wiley &amp; Sons.  All rights reserved.</a:t>
            </a:r>
          </a:p>
        </p:txBody>
      </p:sp>
      <p:sp>
        <p:nvSpPr>
          <p:cNvPr id="67587" name="Rectangle 3"/>
          <p:cNvSpPr>
            <a:spLocks noChangeArrowheads="1"/>
          </p:cNvSpPr>
          <p:nvPr/>
        </p:nvSpPr>
        <p:spPr bwMode="auto">
          <a:xfrm>
            <a:off x="0" y="304800"/>
            <a:ext cx="268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/>
            <a:r>
              <a:rPr lang="en-US" altLang="en-US" sz="2400" b="1">
                <a:solidFill>
                  <a:schemeClr val="hlink"/>
                </a:solidFill>
              </a:rPr>
              <a:t> </a:t>
            </a:r>
          </a:p>
        </p:txBody>
      </p:sp>
      <p:sp>
        <p:nvSpPr>
          <p:cNvPr id="67588" name="Text Box 4"/>
          <p:cNvSpPr txBox="1">
            <a:spLocks noChangeArrowheads="1"/>
          </p:cNvSpPr>
          <p:nvPr/>
        </p:nvSpPr>
        <p:spPr bwMode="auto">
          <a:xfrm>
            <a:off x="0" y="304800"/>
            <a:ext cx="701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/>
            <a:r>
              <a:rPr lang="en-US" altLang="en-US" sz="2400" b="1">
                <a:latin typeface="Lucida Sans" pitchFamily="34" charset="0"/>
              </a:rPr>
              <a:t>ch11/invoice/LineItem.java</a:t>
            </a:r>
          </a:p>
        </p:txBody>
      </p:sp>
      <p:sp>
        <p:nvSpPr>
          <p:cNvPr id="67589" name="Rectangle 5"/>
          <p:cNvSpPr>
            <a:spLocks noChangeArrowheads="1"/>
          </p:cNvSpPr>
          <p:nvPr/>
        </p:nvSpPr>
        <p:spPr bwMode="auto">
          <a:xfrm>
            <a:off x="0" y="914400"/>
            <a:ext cx="9144000" cy="477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 1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/**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 2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en-US" sz="1600">
                <a:solidFill>
                  <a:srgbClr val="0073FF"/>
                </a:solidFill>
                <a:latin typeface="Times New Roman" pitchFamily="18" charset="0"/>
                <a:cs typeface="Times New Roman" pitchFamily="18" charset="0"/>
              </a:rPr>
              <a:t>Describes a quantity of an article to purchase.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 3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*/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 4  </a:t>
            </a:r>
            <a:r>
              <a:rPr lang="en-US" altLang="en-US" sz="1600">
                <a:solidFill>
                  <a:srgbClr val="CC0066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1600">
                <a:solidFill>
                  <a:srgbClr val="CC0066"/>
                </a:solidFill>
                <a:latin typeface="Courier New" pitchFamily="49" charset="0"/>
                <a:cs typeface="Courier New" pitchFamily="49" charset="0"/>
              </a:rPr>
              <a:t>class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LineItem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 5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{  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 6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en-US" sz="1600">
                <a:solidFill>
                  <a:srgbClr val="CC0066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1600">
                <a:solidFill>
                  <a:srgbClr val="CC0066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quantity;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 7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en-US" sz="1600">
                <a:solidFill>
                  <a:srgbClr val="CC0066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Product theProduct;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 8  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 9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/**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10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en-US" sz="1600">
                <a:solidFill>
                  <a:srgbClr val="0073FF"/>
                </a:solidFill>
                <a:latin typeface="Times New Roman" pitchFamily="18" charset="0"/>
                <a:cs typeface="Times New Roman" pitchFamily="18" charset="0"/>
              </a:rPr>
              <a:t>Constructs an item from the product and quantity.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11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@param aProduct</a:t>
            </a:r>
            <a:r>
              <a:rPr lang="en-US" altLang="en-US" sz="1600">
                <a:solidFill>
                  <a:srgbClr val="0073FF"/>
                </a:solidFill>
                <a:latin typeface="Times New Roman" pitchFamily="18" charset="0"/>
                <a:cs typeface="Times New Roman" pitchFamily="18" charset="0"/>
              </a:rPr>
              <a:t> the product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12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@param aQuantity</a:t>
            </a:r>
            <a:r>
              <a:rPr lang="en-US" altLang="en-US" sz="1600">
                <a:solidFill>
                  <a:srgbClr val="0073FF"/>
                </a:solidFill>
                <a:latin typeface="Times New Roman" pitchFamily="18" charset="0"/>
                <a:cs typeface="Times New Roman" pitchFamily="18" charset="0"/>
              </a:rPr>
              <a:t> the item quantity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13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*/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14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en-US" sz="1600">
                <a:solidFill>
                  <a:srgbClr val="CC0066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LineItem(Product aProduct, </a:t>
            </a:r>
            <a:r>
              <a:rPr lang="en-US" altLang="en-US" sz="1600">
                <a:solidFill>
                  <a:srgbClr val="CC0066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aQuantity)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15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{  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16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theProduct = aProduct;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17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quantity = aQuantity;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18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}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19 </a:t>
            </a:r>
            <a:endParaRPr lang="en-US" altLang="en-US" sz="160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7239000" y="5957888"/>
            <a:ext cx="1600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b="1" i="1"/>
              <a:t>Continued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eaLnBrk="1" hangingPunct="1"/>
            <a:r>
              <a:rPr lang="en-US" altLang="en-US" i="1"/>
              <a:t>Big Java</a:t>
            </a:r>
            <a:r>
              <a:rPr lang="en-US" altLang="en-US"/>
              <a:t> by Cay Horstmann</a:t>
            </a:r>
          </a:p>
          <a:p>
            <a:pPr eaLnBrk="1" hangingPunct="1"/>
            <a:r>
              <a:rPr lang="en-US" altLang="en-US"/>
              <a:t>Copyright © 2009 by John Wiley &amp; Sons.  All rights reserved.</a:t>
            </a:r>
          </a:p>
        </p:txBody>
      </p:sp>
      <p:sp>
        <p:nvSpPr>
          <p:cNvPr id="68611" name="Text Box 4"/>
          <p:cNvSpPr txBox="1">
            <a:spLocks noChangeArrowheads="1"/>
          </p:cNvSpPr>
          <p:nvPr/>
        </p:nvSpPr>
        <p:spPr bwMode="auto">
          <a:xfrm>
            <a:off x="0" y="304800"/>
            <a:ext cx="701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/>
            <a:r>
              <a:rPr lang="en-US" altLang="en-US" sz="2400" b="1">
                <a:latin typeface="Lucida Sans" pitchFamily="34" charset="0"/>
              </a:rPr>
              <a:t>ch11/invoice/LineItem.java (cont.)</a:t>
            </a:r>
          </a:p>
        </p:txBody>
      </p:sp>
      <p:sp>
        <p:nvSpPr>
          <p:cNvPr id="68612" name="Rectangle 5"/>
          <p:cNvSpPr>
            <a:spLocks noChangeArrowheads="1"/>
          </p:cNvSpPr>
          <p:nvPr/>
        </p:nvSpPr>
        <p:spPr bwMode="auto">
          <a:xfrm>
            <a:off x="0" y="914400"/>
            <a:ext cx="9144000" cy="501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20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/**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21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en-US" sz="1600">
                <a:solidFill>
                  <a:srgbClr val="0073FF"/>
                </a:solidFill>
                <a:latin typeface="Times New Roman" pitchFamily="18" charset="0"/>
                <a:cs typeface="Times New Roman" pitchFamily="18" charset="0"/>
              </a:rPr>
              <a:t>Computes the total cost of this line item.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22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@return</a:t>
            </a:r>
            <a:r>
              <a:rPr lang="en-US" altLang="en-US" sz="1600">
                <a:solidFill>
                  <a:srgbClr val="0073FF"/>
                </a:solidFill>
                <a:latin typeface="Times New Roman" pitchFamily="18" charset="0"/>
                <a:cs typeface="Times New Roman" pitchFamily="18" charset="0"/>
              </a:rPr>
              <a:t> the total price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23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*/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24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en-US" sz="1600">
                <a:solidFill>
                  <a:srgbClr val="CC0066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1600">
                <a:solidFill>
                  <a:srgbClr val="CC0066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getTotalPrice()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25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{  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26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en-US" sz="1600">
                <a:solidFill>
                  <a:srgbClr val="CC0066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theProduct.getPrice() * quantity;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27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}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28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29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/**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30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en-US" sz="1600">
                <a:solidFill>
                  <a:srgbClr val="0073FF"/>
                </a:solidFill>
                <a:latin typeface="Times New Roman" pitchFamily="18" charset="0"/>
                <a:cs typeface="Times New Roman" pitchFamily="18" charset="0"/>
              </a:rPr>
              <a:t>Formats this item.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31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@return</a:t>
            </a:r>
            <a:r>
              <a:rPr lang="en-US" altLang="en-US" sz="1600">
                <a:solidFill>
                  <a:srgbClr val="0073FF"/>
                </a:solidFill>
                <a:latin typeface="Times New Roman" pitchFamily="18" charset="0"/>
                <a:cs typeface="Times New Roman" pitchFamily="18" charset="0"/>
              </a:rPr>
              <a:t> a formatted string of this item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32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*/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33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en-US" sz="1600">
                <a:solidFill>
                  <a:srgbClr val="CC0066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String format()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34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{  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35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en-US" sz="1600">
                <a:solidFill>
                  <a:srgbClr val="CC0066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String.format(</a:t>
            </a:r>
            <a:r>
              <a:rPr lang="en-US" altLang="en-US" sz="1600">
                <a:solidFill>
                  <a:srgbClr val="32E598"/>
                </a:solidFill>
                <a:latin typeface="Courier New" pitchFamily="49" charset="0"/>
                <a:cs typeface="Courier New" pitchFamily="49" charset="0"/>
              </a:rPr>
              <a:t>"%-30s%8.2f%5d%8.2f"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, 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36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   theProduct.getDescription(), theProduct.getPrice(), 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37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   quantity, getTotalPrice());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38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}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39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eaLnBrk="1" hangingPunct="1"/>
            <a:r>
              <a:rPr lang="en-US" altLang="en-US" i="1"/>
              <a:t>Big Java</a:t>
            </a:r>
            <a:r>
              <a:rPr lang="en-US" altLang="en-US"/>
              <a:t> by Cay Horstmann</a:t>
            </a:r>
          </a:p>
          <a:p>
            <a:pPr eaLnBrk="1" hangingPunct="1"/>
            <a:r>
              <a:rPr lang="en-US" altLang="en-US"/>
              <a:t>Copyright © 2009 by John Wiley &amp; Sons.  All rights reserved.</a:t>
            </a:r>
          </a:p>
        </p:txBody>
      </p:sp>
      <p:sp>
        <p:nvSpPr>
          <p:cNvPr id="69635" name="Text Box 4"/>
          <p:cNvSpPr txBox="1">
            <a:spLocks noChangeArrowheads="1"/>
          </p:cNvSpPr>
          <p:nvPr/>
        </p:nvSpPr>
        <p:spPr bwMode="auto">
          <a:xfrm>
            <a:off x="0" y="304800"/>
            <a:ext cx="701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/>
            <a:r>
              <a:rPr lang="en-US" altLang="en-US" sz="2400" b="1">
                <a:latin typeface="Lucida Sans" pitchFamily="34" charset="0"/>
              </a:rPr>
              <a:t>ch11/invoice/Product.java</a:t>
            </a:r>
          </a:p>
        </p:txBody>
      </p:sp>
      <p:sp>
        <p:nvSpPr>
          <p:cNvPr id="69636" name="Rectangle 5"/>
          <p:cNvSpPr>
            <a:spLocks noChangeArrowheads="1"/>
          </p:cNvSpPr>
          <p:nvPr/>
        </p:nvSpPr>
        <p:spPr bwMode="auto">
          <a:xfrm>
            <a:off x="0" y="914400"/>
            <a:ext cx="9144000" cy="477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 1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/**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 2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en-US" sz="1600">
                <a:solidFill>
                  <a:srgbClr val="0073FF"/>
                </a:solidFill>
                <a:latin typeface="Times New Roman" pitchFamily="18" charset="0"/>
                <a:cs typeface="Times New Roman" pitchFamily="18" charset="0"/>
              </a:rPr>
              <a:t>Describes a product with a description and a price.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 3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*/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 4  </a:t>
            </a:r>
            <a:r>
              <a:rPr lang="en-US" altLang="en-US" sz="1600">
                <a:solidFill>
                  <a:srgbClr val="CC0066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1600">
                <a:solidFill>
                  <a:srgbClr val="CC0066"/>
                </a:solidFill>
                <a:latin typeface="Courier New" pitchFamily="49" charset="0"/>
                <a:cs typeface="Courier New" pitchFamily="49" charset="0"/>
              </a:rPr>
              <a:t>class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Product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 5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{  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 6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en-US" sz="1600">
                <a:solidFill>
                  <a:srgbClr val="CC0066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String description;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 7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en-US" sz="1600">
                <a:solidFill>
                  <a:srgbClr val="CC0066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1600">
                <a:solidFill>
                  <a:srgbClr val="CC0066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price;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 8  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 9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/**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10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en-US" sz="1600">
                <a:solidFill>
                  <a:srgbClr val="0073FF"/>
                </a:solidFill>
                <a:latin typeface="Times New Roman" pitchFamily="18" charset="0"/>
                <a:cs typeface="Times New Roman" pitchFamily="18" charset="0"/>
              </a:rPr>
              <a:t>Constructs a product from a description and a price.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11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@param aDescription</a:t>
            </a:r>
            <a:r>
              <a:rPr lang="en-US" altLang="en-US" sz="1600">
                <a:solidFill>
                  <a:srgbClr val="0073FF"/>
                </a:solidFill>
                <a:latin typeface="Times New Roman" pitchFamily="18" charset="0"/>
                <a:cs typeface="Times New Roman" pitchFamily="18" charset="0"/>
              </a:rPr>
              <a:t> the product description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12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@param aPrice</a:t>
            </a:r>
            <a:r>
              <a:rPr lang="en-US" altLang="en-US" sz="1600">
                <a:solidFill>
                  <a:srgbClr val="0073FF"/>
                </a:solidFill>
                <a:latin typeface="Times New Roman" pitchFamily="18" charset="0"/>
                <a:cs typeface="Times New Roman" pitchFamily="18" charset="0"/>
              </a:rPr>
              <a:t> the product price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13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*/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14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en-US" sz="1600">
                <a:solidFill>
                  <a:srgbClr val="CC0066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Product(String aDescription, </a:t>
            </a:r>
            <a:r>
              <a:rPr lang="en-US" altLang="en-US" sz="1600">
                <a:solidFill>
                  <a:srgbClr val="CC0066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aPrice)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15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{  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16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description = aDescription;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17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price = aPrice;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18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}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19 </a:t>
            </a:r>
            <a:endParaRPr lang="en-US" altLang="en-US" sz="160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7239000" y="5957888"/>
            <a:ext cx="1600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b="1" i="1"/>
              <a:t>Continued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eaLnBrk="1" hangingPunct="1"/>
            <a:r>
              <a:rPr lang="en-US" altLang="en-US" i="1"/>
              <a:t>Big Java</a:t>
            </a:r>
            <a:r>
              <a:rPr lang="en-US" altLang="en-US"/>
              <a:t> by Cay Horstmann</a:t>
            </a:r>
          </a:p>
          <a:p>
            <a:pPr eaLnBrk="1" hangingPunct="1"/>
            <a:r>
              <a:rPr lang="en-US" altLang="en-US"/>
              <a:t>Copyright © 2009 by John Wiley &amp; Sons.  All rights reserved.</a:t>
            </a:r>
          </a:p>
        </p:txBody>
      </p:sp>
      <p:sp>
        <p:nvSpPr>
          <p:cNvPr id="70659" name="Text Box 4"/>
          <p:cNvSpPr txBox="1">
            <a:spLocks noChangeArrowheads="1"/>
          </p:cNvSpPr>
          <p:nvPr/>
        </p:nvSpPr>
        <p:spPr bwMode="auto">
          <a:xfrm>
            <a:off x="0" y="304800"/>
            <a:ext cx="701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/>
            <a:r>
              <a:rPr lang="en-US" altLang="en-US" sz="2400" b="1">
                <a:latin typeface="Lucida Sans" pitchFamily="34" charset="0"/>
              </a:rPr>
              <a:t>ch11/invoice/Product.java (cont.)</a:t>
            </a:r>
          </a:p>
        </p:txBody>
      </p:sp>
      <p:sp>
        <p:nvSpPr>
          <p:cNvPr id="70660" name="Rectangle 5"/>
          <p:cNvSpPr>
            <a:spLocks noChangeArrowheads="1"/>
          </p:cNvSpPr>
          <p:nvPr/>
        </p:nvSpPr>
        <p:spPr bwMode="auto">
          <a:xfrm>
            <a:off x="0" y="917575"/>
            <a:ext cx="9144000" cy="477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20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/**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21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en-US" sz="1600">
                <a:solidFill>
                  <a:srgbClr val="0073FF"/>
                </a:solidFill>
                <a:latin typeface="Times New Roman" pitchFamily="18" charset="0"/>
                <a:cs typeface="Times New Roman" pitchFamily="18" charset="0"/>
              </a:rPr>
              <a:t>Gets the product description.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22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@return</a:t>
            </a:r>
            <a:r>
              <a:rPr lang="en-US" altLang="en-US" sz="1600">
                <a:solidFill>
                  <a:srgbClr val="0073FF"/>
                </a:solidFill>
                <a:latin typeface="Times New Roman" pitchFamily="18" charset="0"/>
                <a:cs typeface="Times New Roman" pitchFamily="18" charset="0"/>
              </a:rPr>
              <a:t> the description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23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*/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24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en-US" sz="1600">
                <a:solidFill>
                  <a:srgbClr val="CC0066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String getDescription()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25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{  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26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en-US" sz="1600">
                <a:solidFill>
                  <a:srgbClr val="CC0066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description;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27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}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28  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29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/**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30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en-US" sz="1600">
                <a:solidFill>
                  <a:srgbClr val="0073FF"/>
                </a:solidFill>
                <a:latin typeface="Times New Roman" pitchFamily="18" charset="0"/>
                <a:cs typeface="Times New Roman" pitchFamily="18" charset="0"/>
              </a:rPr>
              <a:t>Gets the product price.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31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@return</a:t>
            </a:r>
            <a:r>
              <a:rPr lang="en-US" altLang="en-US" sz="1600">
                <a:solidFill>
                  <a:srgbClr val="0073FF"/>
                </a:solidFill>
                <a:latin typeface="Times New Roman" pitchFamily="18" charset="0"/>
                <a:cs typeface="Times New Roman" pitchFamily="18" charset="0"/>
              </a:rPr>
              <a:t> the unit price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32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*/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33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en-US" sz="1600">
                <a:solidFill>
                  <a:srgbClr val="CC0066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1600">
                <a:solidFill>
                  <a:srgbClr val="CC0066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getPrice()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34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{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35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en-US" sz="1600">
                <a:solidFill>
                  <a:srgbClr val="CC0066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price;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36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}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37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38 </a:t>
            </a:r>
            <a:endParaRPr lang="en-US" altLang="en-US" sz="160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eaLnBrk="1" hangingPunct="1"/>
            <a:r>
              <a:rPr lang="en-US" altLang="en-US" i="1"/>
              <a:t>Big Java</a:t>
            </a:r>
            <a:r>
              <a:rPr lang="en-US" altLang="en-US"/>
              <a:t> by Cay Horstmann</a:t>
            </a:r>
          </a:p>
          <a:p>
            <a:pPr eaLnBrk="1" hangingPunct="1"/>
            <a:r>
              <a:rPr lang="en-US" altLang="en-US"/>
              <a:t>Copyright © 2009 by John Wiley &amp; Sons.  All rights reserved.</a:t>
            </a:r>
          </a:p>
        </p:txBody>
      </p:sp>
      <p:sp>
        <p:nvSpPr>
          <p:cNvPr id="71683" name="Rectangle 3"/>
          <p:cNvSpPr>
            <a:spLocks noChangeArrowheads="1"/>
          </p:cNvSpPr>
          <p:nvPr/>
        </p:nvSpPr>
        <p:spPr bwMode="auto">
          <a:xfrm>
            <a:off x="0" y="228600"/>
            <a:ext cx="268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/>
            <a:r>
              <a:rPr lang="en-US" altLang="en-US" sz="2400" b="1">
                <a:solidFill>
                  <a:schemeClr val="hlink"/>
                </a:solidFill>
              </a:rPr>
              <a:t> </a:t>
            </a:r>
          </a:p>
        </p:txBody>
      </p:sp>
      <p:sp>
        <p:nvSpPr>
          <p:cNvPr id="71684" name="Text Box 4"/>
          <p:cNvSpPr txBox="1">
            <a:spLocks noChangeArrowheads="1"/>
          </p:cNvSpPr>
          <p:nvPr/>
        </p:nvSpPr>
        <p:spPr bwMode="auto">
          <a:xfrm>
            <a:off x="0" y="304800"/>
            <a:ext cx="701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/>
            <a:r>
              <a:rPr lang="en-US" altLang="en-US" sz="2400" b="1">
                <a:latin typeface="Lucida Sans" pitchFamily="34" charset="0"/>
              </a:rPr>
              <a:t>ch11/invoice/Address.java</a:t>
            </a:r>
          </a:p>
        </p:txBody>
      </p:sp>
      <p:sp>
        <p:nvSpPr>
          <p:cNvPr id="71685" name="Rectangle 5"/>
          <p:cNvSpPr>
            <a:spLocks noChangeArrowheads="1"/>
          </p:cNvSpPr>
          <p:nvPr/>
        </p:nvSpPr>
        <p:spPr bwMode="auto">
          <a:xfrm>
            <a:off x="0" y="914400"/>
            <a:ext cx="9144000" cy="477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 1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/**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 2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en-US" sz="1600">
                <a:solidFill>
                  <a:srgbClr val="0073FF"/>
                </a:solidFill>
                <a:latin typeface="Times New Roman" pitchFamily="18" charset="0"/>
                <a:cs typeface="Times New Roman" pitchFamily="18" charset="0"/>
              </a:rPr>
              <a:t>Describes a mailing address.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 3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*/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 4  </a:t>
            </a:r>
            <a:r>
              <a:rPr lang="en-US" altLang="en-US" sz="1600">
                <a:solidFill>
                  <a:srgbClr val="CC0066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1600">
                <a:solidFill>
                  <a:srgbClr val="CC0066"/>
                </a:solidFill>
                <a:latin typeface="Courier New" pitchFamily="49" charset="0"/>
                <a:cs typeface="Courier New" pitchFamily="49" charset="0"/>
              </a:rPr>
              <a:t>class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Address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 5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{  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 6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en-US" sz="1600">
                <a:solidFill>
                  <a:srgbClr val="CC0066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String name;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 7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en-US" sz="1600">
                <a:solidFill>
                  <a:srgbClr val="CC0066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String street;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 8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en-US" sz="1600">
                <a:solidFill>
                  <a:srgbClr val="CC0066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String city;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 9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en-US" sz="1600">
                <a:solidFill>
                  <a:srgbClr val="CC0066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String state;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10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en-US" sz="1600">
                <a:solidFill>
                  <a:srgbClr val="CC0066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String zip;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11  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12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/**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13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en-US" sz="1600">
                <a:solidFill>
                  <a:srgbClr val="0073FF"/>
                </a:solidFill>
                <a:latin typeface="Times New Roman" pitchFamily="18" charset="0"/>
                <a:cs typeface="Times New Roman" pitchFamily="18" charset="0"/>
              </a:rPr>
              <a:t>Constructs a mailing address. 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14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@param aName</a:t>
            </a:r>
            <a:r>
              <a:rPr lang="en-US" altLang="en-US" sz="1600">
                <a:solidFill>
                  <a:srgbClr val="0073FF"/>
                </a:solidFill>
                <a:latin typeface="Times New Roman" pitchFamily="18" charset="0"/>
                <a:cs typeface="Times New Roman" pitchFamily="18" charset="0"/>
              </a:rPr>
              <a:t> the recipient name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15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@param aStreet</a:t>
            </a:r>
            <a:r>
              <a:rPr lang="en-US" altLang="en-US" sz="1600">
                <a:solidFill>
                  <a:srgbClr val="0073FF"/>
                </a:solidFill>
                <a:latin typeface="Times New Roman" pitchFamily="18" charset="0"/>
                <a:cs typeface="Times New Roman" pitchFamily="18" charset="0"/>
              </a:rPr>
              <a:t> the street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16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@param aCity</a:t>
            </a:r>
            <a:r>
              <a:rPr lang="en-US" altLang="en-US" sz="1600">
                <a:solidFill>
                  <a:srgbClr val="0073FF"/>
                </a:solidFill>
                <a:latin typeface="Times New Roman" pitchFamily="18" charset="0"/>
                <a:cs typeface="Times New Roman" pitchFamily="18" charset="0"/>
              </a:rPr>
              <a:t> the city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17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@param aState</a:t>
            </a:r>
            <a:r>
              <a:rPr lang="en-US" altLang="en-US" sz="1600">
                <a:solidFill>
                  <a:srgbClr val="0073FF"/>
                </a:solidFill>
                <a:latin typeface="Times New Roman" pitchFamily="18" charset="0"/>
                <a:cs typeface="Times New Roman" pitchFamily="18" charset="0"/>
              </a:rPr>
              <a:t> the two-letter state code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18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@param aZip</a:t>
            </a:r>
            <a:r>
              <a:rPr lang="en-US" altLang="en-US" sz="1600">
                <a:solidFill>
                  <a:srgbClr val="0073FF"/>
                </a:solidFill>
                <a:latin typeface="Times New Roman" pitchFamily="18" charset="0"/>
                <a:cs typeface="Times New Roman" pitchFamily="18" charset="0"/>
              </a:rPr>
              <a:t> the ZIP postal code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19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*/</a:t>
            </a:r>
            <a:endParaRPr lang="en-US" altLang="en-US" sz="160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7239000" y="5957888"/>
            <a:ext cx="1600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b="1" i="1"/>
              <a:t>Continued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eaLnBrk="1" hangingPunct="1"/>
            <a:r>
              <a:rPr lang="en-US" altLang="en-US" i="1"/>
              <a:t>Big Java</a:t>
            </a:r>
            <a:r>
              <a:rPr lang="en-US" altLang="en-US"/>
              <a:t> by Cay Horstmann</a:t>
            </a:r>
          </a:p>
          <a:p>
            <a:pPr eaLnBrk="1" hangingPunct="1"/>
            <a:r>
              <a:rPr lang="en-US" altLang="en-US"/>
              <a:t>Copyright © 2009 by John Wiley &amp; Sons.  All rights reserved.</a:t>
            </a:r>
          </a:p>
        </p:txBody>
      </p:sp>
      <p:sp>
        <p:nvSpPr>
          <p:cNvPr id="72707" name="Text Box 4"/>
          <p:cNvSpPr txBox="1">
            <a:spLocks noChangeArrowheads="1"/>
          </p:cNvSpPr>
          <p:nvPr/>
        </p:nvSpPr>
        <p:spPr bwMode="auto">
          <a:xfrm>
            <a:off x="0" y="304800"/>
            <a:ext cx="701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/>
            <a:r>
              <a:rPr lang="en-US" altLang="en-US" sz="2400" b="1">
                <a:latin typeface="Lucida Sans" pitchFamily="34" charset="0"/>
              </a:rPr>
              <a:t>ch11/invoice/Address.java (cont.)</a:t>
            </a:r>
          </a:p>
        </p:txBody>
      </p:sp>
      <p:sp>
        <p:nvSpPr>
          <p:cNvPr id="72708" name="Rectangle 5"/>
          <p:cNvSpPr>
            <a:spLocks noChangeArrowheads="1"/>
          </p:cNvSpPr>
          <p:nvPr/>
        </p:nvSpPr>
        <p:spPr bwMode="auto">
          <a:xfrm>
            <a:off x="0" y="917575"/>
            <a:ext cx="9144000" cy="526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20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en-US" sz="1600">
                <a:solidFill>
                  <a:srgbClr val="CC0066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Address(String aName, String aStreet,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21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   String aCity, String aState, String aZip)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22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{  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23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name = aName;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24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street = aStreet;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25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city = aCity;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26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state = aState;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27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zip = aZip;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28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}   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29  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30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/**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31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en-US" sz="1600">
                <a:solidFill>
                  <a:srgbClr val="0073FF"/>
                </a:solidFill>
                <a:latin typeface="Times New Roman" pitchFamily="18" charset="0"/>
                <a:cs typeface="Times New Roman" pitchFamily="18" charset="0"/>
              </a:rPr>
              <a:t>Formats the address.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32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@return</a:t>
            </a:r>
            <a:r>
              <a:rPr lang="en-US" altLang="en-US" sz="1600">
                <a:solidFill>
                  <a:srgbClr val="0073FF"/>
                </a:solidFill>
                <a:latin typeface="Times New Roman" pitchFamily="18" charset="0"/>
                <a:cs typeface="Times New Roman" pitchFamily="18" charset="0"/>
              </a:rPr>
              <a:t> the address as a string with three lines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33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*/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34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en-US" sz="1600">
                <a:solidFill>
                  <a:srgbClr val="CC0066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String format()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35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{  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36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en-US" sz="1600">
                <a:solidFill>
                  <a:srgbClr val="CC0066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name + </a:t>
            </a:r>
            <a:r>
              <a:rPr lang="en-US" altLang="en-US" sz="1600">
                <a:solidFill>
                  <a:srgbClr val="32E598"/>
                </a:solidFill>
                <a:latin typeface="Courier New" pitchFamily="49" charset="0"/>
                <a:cs typeface="Courier New" pitchFamily="49" charset="0"/>
              </a:rPr>
              <a:t>"\n" + street + "\n"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37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      + city + </a:t>
            </a:r>
            <a:r>
              <a:rPr lang="en-US" altLang="en-US" sz="1600">
                <a:solidFill>
                  <a:srgbClr val="32E598"/>
                </a:solidFill>
                <a:latin typeface="Courier New" pitchFamily="49" charset="0"/>
                <a:cs typeface="Courier New" pitchFamily="49" charset="0"/>
              </a:rPr>
              <a:t>", " + state + " "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+ zip;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38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}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39  </a:t>
            </a:r>
            <a:r>
              <a:rPr lang="en-US" altLang="en-US" sz="16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 algn="l" eaLnBrk="1" hangingPunct="1"/>
            <a:r>
              <a:rPr lang="en-US" altLang="en-US" sz="1600" b="1">
                <a:solidFill>
                  <a:srgbClr val="0073FF"/>
                </a:solidFill>
                <a:latin typeface="Courier New" pitchFamily="49" charset="0"/>
                <a:cs typeface="Courier New" pitchFamily="49" charset="0"/>
              </a:rPr>
              <a:t> 40 </a:t>
            </a:r>
            <a:endParaRPr lang="en-US" altLang="en-US" sz="160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44501</TotalTime>
  <Words>3768</Words>
  <Application>Microsoft Office PowerPoint</Application>
  <PresentationFormat>On-screen Show (4:3)</PresentationFormat>
  <Paragraphs>506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51</vt:i4>
      </vt:variant>
    </vt:vector>
  </HeadingPairs>
  <TitlesOfParts>
    <vt:vector size="59" baseType="lpstr">
      <vt:lpstr>Arial</vt:lpstr>
      <vt:lpstr>Calibri</vt:lpstr>
      <vt:lpstr>Courier New</vt:lpstr>
      <vt:lpstr>Lucida Sans</vt:lpstr>
      <vt:lpstr>Times New Roman</vt:lpstr>
      <vt:lpstr>Default Design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Bill</dc:creator>
  <cp:lastModifiedBy>Michael.English</cp:lastModifiedBy>
  <cp:revision>157</cp:revision>
  <dcterms:created xsi:type="dcterms:W3CDTF">2009-11-14T18:57:09Z</dcterms:created>
  <dcterms:modified xsi:type="dcterms:W3CDTF">2022-01-03T23:31:25Z</dcterms:modified>
</cp:coreProperties>
</file>